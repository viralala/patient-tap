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jyRmBnKuL+IED7tvksIPEtCyIC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2E0D90B-089A-4D06-9F38-3E99E80F544A}">
  <a:tblStyle styleId="{72E0D90B-089A-4D06-9F38-3E99E80F544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68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B1E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1028700" y="2204280"/>
            <a:ext cx="16459200" cy="620935"/>
            <a:chOff x="0" y="-47625"/>
            <a:chExt cx="21945600" cy="82791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21945600" cy="780288"/>
            </a:xfrm>
            <a:custGeom>
              <a:avLst/>
              <a:gdLst/>
              <a:ahLst/>
              <a:cxnLst/>
              <a:rect l="l" t="t" r="r" b="b"/>
              <a:pathLst>
                <a:path w="21945600" h="780288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3091" t="-1300955" b="-1498432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21945600" cy="827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00" b="0" i="0" u="none" strike="noStrike" cap="none">
                  <a:solidFill>
                    <a:srgbClr val="8888BB"/>
                  </a:solidFill>
                  <a:latin typeface="Calibri"/>
                  <a:ea typeface="Calibri"/>
                  <a:cs typeface="Calibri"/>
                  <a:sym typeface="Calibri"/>
                </a:rPr>
                <a:t>ZEN CLUB PRESENTS</a:t>
              </a:r>
              <a:endParaRPr sz="2300"/>
            </a:p>
          </p:txBody>
        </p:sp>
      </p:grpSp>
      <p:grpSp>
        <p:nvGrpSpPr>
          <p:cNvPr id="87" name="Google Shape;87;p1"/>
          <p:cNvGrpSpPr/>
          <p:nvPr/>
        </p:nvGrpSpPr>
        <p:grpSpPr>
          <a:xfrm>
            <a:off x="574048" y="2826068"/>
            <a:ext cx="17531025" cy="2317500"/>
            <a:chOff x="0" y="-285750"/>
            <a:chExt cx="23374700" cy="3090000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22920961" cy="2804160"/>
            </a:xfrm>
            <a:custGeom>
              <a:avLst/>
              <a:gdLst/>
              <a:ahLst/>
              <a:cxnLst/>
              <a:rect l="l" t="t" r="r" b="b"/>
              <a:pathLst>
                <a:path w="22920961" h="2804160" extrusionOk="0">
                  <a:moveTo>
                    <a:pt x="0" y="0"/>
                  </a:moveTo>
                  <a:lnTo>
                    <a:pt x="22920961" y="0"/>
                  </a:lnTo>
                  <a:lnTo>
                    <a:pt x="22920961" y="2804160"/>
                  </a:lnTo>
                  <a:lnTo>
                    <a:pt x="0" y="28041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109266" b="-109266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Google Shape;89;p1"/>
            <p:cNvSpPr txBox="1"/>
            <p:nvPr/>
          </p:nvSpPr>
          <p:spPr>
            <a:xfrm>
              <a:off x="453800" y="-285750"/>
              <a:ext cx="22920900" cy="309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400" b="1">
                  <a:solidFill>
                    <a:srgbClr val="2AADEE"/>
                  </a:solidFill>
                  <a:latin typeface="Calibri"/>
                  <a:ea typeface="Calibri"/>
                  <a:cs typeface="Calibri"/>
                  <a:sym typeface="Calibri"/>
                </a:rPr>
                <a:t>CODEAMBLE </a:t>
              </a:r>
              <a:r>
                <a:rPr lang="en-US" sz="14400" b="1" i="0" strike="noStrike" cap="none">
                  <a:solidFill>
                    <a:srgbClr val="2AADEE"/>
                  </a:solidFill>
                  <a:latin typeface="Calibri"/>
                  <a:ea typeface="Calibri"/>
                  <a:cs typeface="Calibri"/>
                  <a:sym typeface="Calibri"/>
                </a:rPr>
                <a:t>2026</a:t>
              </a:r>
              <a:endParaRPr/>
            </a:p>
          </p:txBody>
        </p:sp>
      </p:grpSp>
      <p:sp>
        <p:nvSpPr>
          <p:cNvPr id="90" name="Google Shape;90;p1"/>
          <p:cNvSpPr/>
          <p:nvPr/>
        </p:nvSpPr>
        <p:spPr>
          <a:xfrm>
            <a:off x="4036066" y="6163056"/>
            <a:ext cx="10266616" cy="1945576"/>
          </a:xfrm>
          <a:custGeom>
            <a:avLst/>
            <a:gdLst/>
            <a:ahLst/>
            <a:cxnLst/>
            <a:rect l="l" t="t" r="r" b="b"/>
            <a:pathLst>
              <a:path w="13688822" h="2594102" extrusionOk="0">
                <a:moveTo>
                  <a:pt x="0" y="345821"/>
                </a:moveTo>
                <a:cubicBezTo>
                  <a:pt x="0" y="154813"/>
                  <a:pt x="154813" y="0"/>
                  <a:pt x="345821" y="0"/>
                </a:cubicBezTo>
                <a:lnTo>
                  <a:pt x="13343001" y="0"/>
                </a:lnTo>
                <a:cubicBezTo>
                  <a:pt x="13534010" y="0"/>
                  <a:pt x="13688822" y="154813"/>
                  <a:pt x="13688822" y="345821"/>
                </a:cubicBezTo>
                <a:lnTo>
                  <a:pt x="13688822" y="2248281"/>
                </a:lnTo>
                <a:cubicBezTo>
                  <a:pt x="13688822" y="2439289"/>
                  <a:pt x="13534010" y="2594102"/>
                  <a:pt x="13343001" y="2594102"/>
                </a:cubicBezTo>
                <a:lnTo>
                  <a:pt x="345821" y="2594102"/>
                </a:lnTo>
                <a:cubicBezTo>
                  <a:pt x="154813" y="2594229"/>
                  <a:pt x="0" y="2439289"/>
                  <a:pt x="0" y="2248281"/>
                </a:cubicBezTo>
                <a:close/>
              </a:path>
            </a:pathLst>
          </a:custGeom>
          <a:solidFill>
            <a:srgbClr val="1A1638"/>
          </a:solidFill>
          <a:ln w="25400" cap="sq" cmpd="sng">
            <a:solidFill>
              <a:srgbClr val="3A306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" name="Google Shape;91;p1"/>
          <p:cNvGrpSpPr/>
          <p:nvPr/>
        </p:nvGrpSpPr>
        <p:grpSpPr>
          <a:xfrm>
            <a:off x="4023360" y="6264916"/>
            <a:ext cx="10241280" cy="880110"/>
            <a:chOff x="0" y="-76200"/>
            <a:chExt cx="13655040" cy="1173480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13655039" cy="1097280"/>
            </a:xfrm>
            <a:custGeom>
              <a:avLst/>
              <a:gdLst/>
              <a:ahLst/>
              <a:cxnLst/>
              <a:rect l="l" t="t" r="r" b="b"/>
              <a:pathLst>
                <a:path w="13655039" h="1097280" extrusionOk="0">
                  <a:moveTo>
                    <a:pt x="0" y="0"/>
                  </a:moveTo>
                  <a:lnTo>
                    <a:pt x="13655039" y="0"/>
                  </a:lnTo>
                  <a:lnTo>
                    <a:pt x="13655039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192483" b="-192483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76200"/>
              <a:ext cx="13655040" cy="1173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Patient-Tap</a:t>
              </a:r>
              <a:endParaRPr/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914400" y="4984878"/>
            <a:ext cx="16573500" cy="969847"/>
            <a:chOff x="0" y="0"/>
            <a:chExt cx="22098000" cy="1293129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21945600" cy="975360"/>
            </a:xfrm>
            <a:custGeom>
              <a:avLst/>
              <a:gdLst/>
              <a:ahLst/>
              <a:cxnLst/>
              <a:rect l="l" t="t" r="r" b="b"/>
              <a:pathLst>
                <a:path w="21945600" h="975360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075112" b="-1075112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152400" y="251229"/>
              <a:ext cx="21945600" cy="104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National Level Hackathon</a:t>
              </a:r>
              <a:endParaRPr/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4036066" y="7109307"/>
            <a:ext cx="10241280" cy="675799"/>
            <a:chOff x="0" y="-47625"/>
            <a:chExt cx="13655040" cy="901065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13655039" cy="853440"/>
            </a:xfrm>
            <a:custGeom>
              <a:avLst/>
              <a:gdLst/>
              <a:ahLst/>
              <a:cxnLst/>
              <a:rect l="l" t="t" r="r" b="b"/>
              <a:pathLst>
                <a:path w="13655039" h="853440" extrusionOk="0">
                  <a:moveTo>
                    <a:pt x="0" y="0"/>
                  </a:moveTo>
                  <a:lnTo>
                    <a:pt x="13655039" y="0"/>
                  </a:lnTo>
                  <a:lnTo>
                    <a:pt x="13655039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261760" b="-261760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13655040" cy="9010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0" i="0" u="none" strike="noStrike" cap="none">
                  <a:solidFill>
                    <a:srgbClr val="9999CC"/>
                  </a:solidFill>
                  <a:latin typeface="Calibri"/>
                  <a:ea typeface="Calibri"/>
                  <a:cs typeface="Calibri"/>
                  <a:sym typeface="Calibri"/>
                </a:rPr>
                <a:t>Your medical record, encrypted on the chip you wear.</a:t>
              </a:r>
              <a:endParaRPr/>
            </a:p>
          </p:txBody>
        </p:sp>
      </p:grpSp>
      <p:sp>
        <p:nvSpPr>
          <p:cNvPr id="100" name="Google Shape;100;p1"/>
          <p:cNvSpPr/>
          <p:nvPr/>
        </p:nvSpPr>
        <p:spPr>
          <a:xfrm>
            <a:off x="13586878" y="-714379"/>
            <a:ext cx="4701122" cy="3997288"/>
          </a:xfrm>
          <a:custGeom>
            <a:avLst/>
            <a:gdLst/>
            <a:ahLst/>
            <a:cxnLst/>
            <a:rect l="l" t="t" r="r" b="b"/>
            <a:pathLst>
              <a:path w="5750608" h="5124728" extrusionOk="0">
                <a:moveTo>
                  <a:pt x="0" y="0"/>
                </a:moveTo>
                <a:lnTo>
                  <a:pt x="5750608" y="0"/>
                </a:lnTo>
                <a:lnTo>
                  <a:pt x="5750608" y="5124728"/>
                </a:lnTo>
                <a:lnTo>
                  <a:pt x="0" y="51247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2212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01" name="Google Shape;101;p1"/>
          <p:cNvCxnSpPr/>
          <p:nvPr/>
        </p:nvCxnSpPr>
        <p:spPr>
          <a:xfrm rot="10800000" flipH="1">
            <a:off x="3998925" y="4920025"/>
            <a:ext cx="11340600" cy="597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" name="TextBox 101"/>
          <p:cNvSpPr txBox="1"/>
          <p:nvPr/>
        </p:nvSpPr>
        <p:spPr>
          <a:xfrm>
            <a:off x="4023360" y="845820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C8E0F2"/>
                </a:solidFill>
                <a:latin typeface="Calibri"/>
              </a:rPr>
              <a:t>Team ZEN-T313   ·   Vishwakarma Institute of Technology</a:t>
            </a:r>
          </a:p>
          <a:p>
            <a:pPr algn="ctr"/>
            <a:r>
              <a:rPr sz="1600">
                <a:solidFill>
                  <a:srgbClr val="7FC0EE"/>
                </a:solidFill>
                <a:latin typeface="Calibri"/>
              </a:rPr>
              <a:t>github.com/viralala/Patient-Tap    ·    patient-tap-web.vercel.app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2"/>
          <p:cNvGrpSpPr/>
          <p:nvPr/>
        </p:nvGrpSpPr>
        <p:grpSpPr>
          <a:xfrm>
            <a:off x="640080" y="9609201"/>
            <a:ext cx="4572000" cy="485775"/>
            <a:chOff x="0" y="-38100"/>
            <a:chExt cx="6096000" cy="647700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6096000" cy="609600"/>
            </a:xfrm>
            <a:custGeom>
              <a:avLst/>
              <a:gdLst/>
              <a:ahLst/>
              <a:cxnLst/>
              <a:rect l="l" t="t" r="r" b="b"/>
              <a:pathLst>
                <a:path w="6096000" h="609600" extrusionOk="0">
                  <a:moveTo>
                    <a:pt x="0" y="0"/>
                  </a:moveTo>
                  <a:lnTo>
                    <a:pt x="6096000" y="0"/>
                  </a:lnTo>
                  <a:lnTo>
                    <a:pt x="609600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44856" b="-144856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-38100"/>
              <a:ext cx="60960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u="none" strike="noStrike" cap="non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© CODEAMBLE 2026</a:t>
              </a:r>
              <a:endParaRPr/>
            </a:p>
          </p:txBody>
        </p:sp>
      </p:grpSp>
      <p:grpSp>
        <p:nvGrpSpPr>
          <p:cNvPr id="109" name="Google Shape;109;p2"/>
          <p:cNvGrpSpPr/>
          <p:nvPr/>
        </p:nvGrpSpPr>
        <p:grpSpPr>
          <a:xfrm>
            <a:off x="6400800" y="9609201"/>
            <a:ext cx="5852160" cy="485775"/>
            <a:chOff x="0" y="-38100"/>
            <a:chExt cx="7802880" cy="647700"/>
          </a:xfrm>
        </p:grpSpPr>
        <p:sp>
          <p:nvSpPr>
            <p:cNvPr id="110" name="Google Shape;110;p2"/>
            <p:cNvSpPr/>
            <p:nvPr/>
          </p:nvSpPr>
          <p:spPr>
            <a:xfrm>
              <a:off x="0" y="0"/>
              <a:ext cx="7802880" cy="609600"/>
            </a:xfrm>
            <a:custGeom>
              <a:avLst/>
              <a:gdLst/>
              <a:ahLst/>
              <a:cxnLst/>
              <a:rect l="l" t="t" r="r" b="b"/>
              <a:pathLst>
                <a:path w="7802880" h="609600" extrusionOk="0">
                  <a:moveTo>
                    <a:pt x="0" y="0"/>
                  </a:moveTo>
                  <a:lnTo>
                    <a:pt x="7802880" y="0"/>
                  </a:lnTo>
                  <a:lnTo>
                    <a:pt x="780288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99401" b="-199401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0" y="-38100"/>
              <a:ext cx="7802880" cy="64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u="none" strike="noStrike" cap="non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ZEN Club – </a:t>
              </a:r>
              <a:r>
                <a:rPr lang="en-US" sz="1700" b="1" i="0" u="none" strike="noStrike" cap="non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Zone of Engineering Innovators</a:t>
              </a:r>
              <a:endParaRPr/>
            </a:p>
          </p:txBody>
        </p:sp>
      </p:grpSp>
      <p:grpSp>
        <p:nvGrpSpPr>
          <p:cNvPr id="112" name="Google Shape;112;p2"/>
          <p:cNvGrpSpPr/>
          <p:nvPr/>
        </p:nvGrpSpPr>
        <p:grpSpPr>
          <a:xfrm>
            <a:off x="12984480" y="9609201"/>
            <a:ext cx="5120640" cy="485775"/>
            <a:chOff x="0" y="-38100"/>
            <a:chExt cx="6827520" cy="647700"/>
          </a:xfrm>
        </p:grpSpPr>
        <p:sp>
          <p:nvSpPr>
            <p:cNvPr id="113" name="Google Shape;113;p2"/>
            <p:cNvSpPr/>
            <p:nvPr/>
          </p:nvSpPr>
          <p:spPr>
            <a:xfrm>
              <a:off x="0" y="0"/>
              <a:ext cx="6827520" cy="609600"/>
            </a:xfrm>
            <a:custGeom>
              <a:avLst/>
              <a:gdLst/>
              <a:ahLst/>
              <a:cxnLst/>
              <a:rect l="l" t="t" r="r" b="b"/>
              <a:pathLst>
                <a:path w="6827520" h="609600" extrusionOk="0">
                  <a:moveTo>
                    <a:pt x="0" y="0"/>
                  </a:moveTo>
                  <a:lnTo>
                    <a:pt x="6827520" y="0"/>
                  </a:lnTo>
                  <a:lnTo>
                    <a:pt x="682752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68226" b="-168226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0" y="-38100"/>
              <a:ext cx="6827520" cy="64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u="none" strike="noStrike" cap="non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contact@zoneofengineeringinnovators.com</a:t>
              </a:r>
              <a:endParaRPr/>
            </a:p>
          </p:txBody>
        </p:sp>
      </p:grpSp>
      <p:grpSp>
        <p:nvGrpSpPr>
          <p:cNvPr id="115" name="Google Shape;115;p2"/>
          <p:cNvGrpSpPr/>
          <p:nvPr/>
        </p:nvGrpSpPr>
        <p:grpSpPr>
          <a:xfrm>
            <a:off x="548640" y="215741"/>
            <a:ext cx="2011680" cy="1521619"/>
            <a:chOff x="0" y="-200025"/>
            <a:chExt cx="2682240" cy="2028825"/>
          </a:xfrm>
        </p:grpSpPr>
        <p:sp>
          <p:nvSpPr>
            <p:cNvPr id="116" name="Google Shape;116;p2"/>
            <p:cNvSpPr/>
            <p:nvPr/>
          </p:nvSpPr>
          <p:spPr>
            <a:xfrm>
              <a:off x="0" y="0"/>
              <a:ext cx="2682240" cy="1828800"/>
            </a:xfrm>
            <a:custGeom>
              <a:avLst/>
              <a:gdLst/>
              <a:ahLst/>
              <a:cxnLst/>
              <a:rect l="l" t="t" r="r" b="b"/>
              <a:pathLst>
                <a:path w="2682240" h="1828800" extrusionOk="0">
                  <a:moveTo>
                    <a:pt x="0" y="0"/>
                  </a:moveTo>
                  <a:lnTo>
                    <a:pt x="2682240" y="0"/>
                  </a:lnTo>
                  <a:lnTo>
                    <a:pt x="2682240" y="1828800"/>
                  </a:lnTo>
                  <a:lnTo>
                    <a:pt x="0" y="1828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37480" r="-37480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0" y="-200025"/>
              <a:ext cx="2682240" cy="2028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99" b="1" i="0" u="none" strike="noStrike" cap="none">
                  <a:solidFill>
                    <a:srgbClr val="D0DFF0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/>
            </a:p>
          </p:txBody>
        </p:sp>
      </p:grpSp>
      <p:grpSp>
        <p:nvGrpSpPr>
          <p:cNvPr id="118" name="Google Shape;118;p2"/>
          <p:cNvGrpSpPr/>
          <p:nvPr/>
        </p:nvGrpSpPr>
        <p:grpSpPr>
          <a:xfrm>
            <a:off x="2377440" y="433483"/>
            <a:ext cx="11887200" cy="992981"/>
            <a:chOff x="0" y="-104775"/>
            <a:chExt cx="15849600" cy="1323975"/>
          </a:xfrm>
        </p:grpSpPr>
        <p:sp>
          <p:nvSpPr>
            <p:cNvPr id="119" name="Google Shape;119;p2"/>
            <p:cNvSpPr/>
            <p:nvPr/>
          </p:nvSpPr>
          <p:spPr>
            <a:xfrm>
              <a:off x="0" y="0"/>
              <a:ext cx="15849600" cy="1219200"/>
            </a:xfrm>
            <a:custGeom>
              <a:avLst/>
              <a:gdLst/>
              <a:ahLst/>
              <a:cxnLst/>
              <a:rect l="l" t="t" r="r" b="b"/>
              <a:pathLst>
                <a:path w="15849600" h="1219200" extrusionOk="0">
                  <a:moveTo>
                    <a:pt x="0" y="0"/>
                  </a:moveTo>
                  <a:lnTo>
                    <a:pt x="15849600" y="0"/>
                  </a:lnTo>
                  <a:lnTo>
                    <a:pt x="1584960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03293" b="-203293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0" y="-104775"/>
              <a:ext cx="15849600" cy="1323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200" b="1" i="0" u="none" strike="noStrike" cap="non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Team &amp; Project Overview</a:t>
              </a:r>
              <a:endParaRPr/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2377440" y="1288161"/>
            <a:ext cx="11887200" cy="540639"/>
            <a:chOff x="0" y="-38100"/>
            <a:chExt cx="15849600" cy="720852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15849600" cy="682752"/>
            </a:xfrm>
            <a:custGeom>
              <a:avLst/>
              <a:gdLst/>
              <a:ahLst/>
              <a:cxnLst/>
              <a:rect l="l" t="t" r="r" b="b"/>
              <a:pathLst>
                <a:path w="15849600" h="682752" extrusionOk="0">
                  <a:moveTo>
                    <a:pt x="0" y="0"/>
                  </a:moveTo>
                  <a:lnTo>
                    <a:pt x="15849600" y="0"/>
                  </a:lnTo>
                  <a:lnTo>
                    <a:pt x="15849600" y="682752"/>
                  </a:lnTo>
                  <a:lnTo>
                    <a:pt x="0" y="68275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02325" b="-402325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0" y="-38100"/>
              <a:ext cx="15849600" cy="7208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Who are you and what are you building?</a:t>
              </a:r>
              <a:endParaRPr/>
            </a:p>
          </p:txBody>
        </p:sp>
      </p:grpSp>
      <p:sp>
        <p:nvSpPr>
          <p:cNvPr id="124" name="Google Shape;124;p2"/>
          <p:cNvSpPr/>
          <p:nvPr/>
        </p:nvSpPr>
        <p:spPr>
          <a:xfrm>
            <a:off x="535943" y="1998983"/>
            <a:ext cx="8072056" cy="7157656"/>
          </a:xfrm>
          <a:custGeom>
            <a:avLst/>
            <a:gdLst/>
            <a:ahLst/>
            <a:cxnLst/>
            <a:rect l="l" t="t" r="r" b="b"/>
            <a:pathLst>
              <a:path w="10762742" h="9543542" extrusionOk="0">
                <a:moveTo>
                  <a:pt x="0" y="293624"/>
                </a:moveTo>
                <a:cubicBezTo>
                  <a:pt x="0" y="131445"/>
                  <a:pt x="131445" y="0"/>
                  <a:pt x="293624" y="0"/>
                </a:cubicBezTo>
                <a:lnTo>
                  <a:pt x="10469118" y="0"/>
                </a:lnTo>
                <a:cubicBezTo>
                  <a:pt x="10631298" y="0"/>
                  <a:pt x="10762742" y="131445"/>
                  <a:pt x="10762742" y="293624"/>
                </a:cubicBezTo>
                <a:lnTo>
                  <a:pt x="10762742" y="9249918"/>
                </a:lnTo>
                <a:cubicBezTo>
                  <a:pt x="10762742" y="9412098"/>
                  <a:pt x="10631298" y="9543542"/>
                  <a:pt x="10469118" y="9543542"/>
                </a:cubicBezTo>
                <a:lnTo>
                  <a:pt x="293624" y="9543542"/>
                </a:lnTo>
                <a:cubicBezTo>
                  <a:pt x="131445" y="9543669"/>
                  <a:pt x="0" y="9412097"/>
                  <a:pt x="0" y="9249918"/>
                </a:cubicBezTo>
                <a:close/>
              </a:path>
            </a:pathLst>
          </a:custGeom>
          <a:solidFill>
            <a:srgbClr val="FFFFFF"/>
          </a:solidFill>
          <a:ln w="25400" cap="sq" cmpd="sng">
            <a:solidFill>
              <a:srgbClr val="E2EAF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5" name="Google Shape;125;p2"/>
          <p:cNvGrpSpPr/>
          <p:nvPr/>
        </p:nvGrpSpPr>
        <p:grpSpPr>
          <a:xfrm>
            <a:off x="914400" y="2235994"/>
            <a:ext cx="7132320" cy="744950"/>
            <a:chOff x="0" y="-66675"/>
            <a:chExt cx="9509760" cy="993267"/>
          </a:xfrm>
        </p:grpSpPr>
        <p:sp>
          <p:nvSpPr>
            <p:cNvPr id="126" name="Google Shape;126;p2"/>
            <p:cNvSpPr/>
            <p:nvPr/>
          </p:nvSpPr>
          <p:spPr>
            <a:xfrm>
              <a:off x="0" y="0"/>
              <a:ext cx="9509760" cy="926592"/>
            </a:xfrm>
            <a:custGeom>
              <a:avLst/>
              <a:gdLst/>
              <a:ahLst/>
              <a:cxnLst/>
              <a:rect l="l" t="t" r="r" b="b"/>
              <a:pathLst>
                <a:path w="9509760" h="926592" extrusionOk="0">
                  <a:moveTo>
                    <a:pt x="0" y="0"/>
                  </a:moveTo>
                  <a:lnTo>
                    <a:pt x="9509760" y="0"/>
                  </a:lnTo>
                  <a:lnTo>
                    <a:pt x="950976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49984" b="-149984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Google Shape;127;p2"/>
            <p:cNvSpPr txBox="1"/>
            <p:nvPr/>
          </p:nvSpPr>
          <p:spPr>
            <a:xfrm>
              <a:off x="0" y="-66675"/>
              <a:ext cx="9509760" cy="9932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👤  Team Details</a:t>
              </a:r>
              <a:endParaRPr/>
            </a:p>
          </p:txBody>
        </p:sp>
      </p:grpSp>
      <p:grpSp>
        <p:nvGrpSpPr>
          <p:cNvPr id="128" name="Google Shape;128;p2"/>
          <p:cNvGrpSpPr/>
          <p:nvPr/>
        </p:nvGrpSpPr>
        <p:grpSpPr>
          <a:xfrm>
            <a:off x="914400" y="3164681"/>
            <a:ext cx="7132320" cy="858679"/>
            <a:chOff x="0" y="-47625"/>
            <a:chExt cx="9509760" cy="1144905"/>
          </a:xfrm>
        </p:grpSpPr>
        <p:sp>
          <p:nvSpPr>
            <p:cNvPr id="129" name="Google Shape;129;p2"/>
            <p:cNvSpPr/>
            <p:nvPr/>
          </p:nvSpPr>
          <p:spPr>
            <a:xfrm>
              <a:off x="0" y="0"/>
              <a:ext cx="9509760" cy="1097280"/>
            </a:xfrm>
            <a:custGeom>
              <a:avLst/>
              <a:gdLst/>
              <a:ahLst/>
              <a:cxnLst/>
              <a:rect l="l" t="t" r="r" b="b"/>
              <a:pathLst>
                <a:path w="9509760" h="1097280" extrusionOk="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18873" b="-118873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Google Shape;130;p2"/>
            <p:cNvSpPr txBox="1"/>
            <p:nvPr/>
          </p:nvSpPr>
          <p:spPr>
            <a:xfrm>
              <a:off x="0" y="-47625"/>
              <a:ext cx="9509760" cy="1144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0" u="none" strike="noStrike" cap="none" dirty="0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→  </a:t>
              </a:r>
              <a:r>
                <a:rPr lang="en-US" sz="2300" b="1" i="0" u="none" strike="noStrike" cap="none" dirty="0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Team Name:  </a:t>
              </a:r>
              <a:r>
                <a:rPr lang="en-US" sz="2300" b="0" i="0" u="none" strike="noStrike" cap="none" dirty="0" smtClean="0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Team </a:t>
              </a:r>
              <a:r>
                <a:rPr lang="en-US" sz="2300" b="0" i="0" u="none" strike="noStrike" cap="none" dirty="0" err="1" smtClean="0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Tadoww</a:t>
              </a:r>
              <a:r>
                <a:rPr lang="en-US" sz="2300" b="0" i="0" u="none" strike="noStrike" cap="none" dirty="0" smtClean="0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!</a:t>
              </a:r>
              <a:endParaRPr dirty="0"/>
            </a:p>
          </p:txBody>
        </p:sp>
      </p:grpSp>
      <p:grpSp>
        <p:nvGrpSpPr>
          <p:cNvPr id="131" name="Google Shape;131;p2"/>
          <p:cNvGrpSpPr/>
          <p:nvPr/>
        </p:nvGrpSpPr>
        <p:grpSpPr>
          <a:xfrm>
            <a:off x="914400" y="4261961"/>
            <a:ext cx="7132320" cy="858679"/>
            <a:chOff x="0" y="-47625"/>
            <a:chExt cx="9509760" cy="1144905"/>
          </a:xfrm>
        </p:grpSpPr>
        <p:sp>
          <p:nvSpPr>
            <p:cNvPr id="132" name="Google Shape;132;p2"/>
            <p:cNvSpPr/>
            <p:nvPr/>
          </p:nvSpPr>
          <p:spPr>
            <a:xfrm>
              <a:off x="0" y="0"/>
              <a:ext cx="9509760" cy="1097280"/>
            </a:xfrm>
            <a:custGeom>
              <a:avLst/>
              <a:gdLst/>
              <a:ahLst/>
              <a:cxnLst/>
              <a:rect l="l" t="t" r="r" b="b"/>
              <a:pathLst>
                <a:path w="9509760" h="1097280" extrusionOk="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18873" b="-118873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Google Shape;133;p2"/>
            <p:cNvSpPr txBox="1"/>
            <p:nvPr/>
          </p:nvSpPr>
          <p:spPr>
            <a:xfrm>
              <a:off x="0" y="-47625"/>
              <a:ext cx="9509760" cy="1144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0" u="none" strike="noStrike" cap="non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→  </a:t>
              </a:r>
              <a:r>
                <a:rPr lang="en-US" sz="2300" b="1" i="0" u="none" strike="noStrike" cap="non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Team ID:  </a:t>
              </a:r>
              <a:r>
                <a:rPr lang="en-US" sz="2300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ZEN</a:t>
              </a:r>
              <a:r>
                <a:rPr lang="en-US" sz="2300" b="0" i="0" u="none" strike="noStrike" cap="non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-T313</a:t>
              </a:r>
              <a:endParaRPr/>
            </a:p>
          </p:txBody>
        </p:sp>
      </p:grpSp>
      <p:grpSp>
        <p:nvGrpSpPr>
          <p:cNvPr id="134" name="Google Shape;134;p2"/>
          <p:cNvGrpSpPr/>
          <p:nvPr/>
        </p:nvGrpSpPr>
        <p:grpSpPr>
          <a:xfrm>
            <a:off x="914400" y="5359241"/>
            <a:ext cx="7132320" cy="858679"/>
            <a:chOff x="0" y="-47625"/>
            <a:chExt cx="9509760" cy="1144905"/>
          </a:xfrm>
        </p:grpSpPr>
        <p:sp>
          <p:nvSpPr>
            <p:cNvPr id="135" name="Google Shape;135;p2"/>
            <p:cNvSpPr/>
            <p:nvPr/>
          </p:nvSpPr>
          <p:spPr>
            <a:xfrm>
              <a:off x="0" y="0"/>
              <a:ext cx="9509760" cy="1097280"/>
            </a:xfrm>
            <a:custGeom>
              <a:avLst/>
              <a:gdLst/>
              <a:ahLst/>
              <a:cxnLst/>
              <a:rect l="l" t="t" r="r" b="b"/>
              <a:pathLst>
                <a:path w="9509760" h="1097280" extrusionOk="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18873" b="-118873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Google Shape;136;p2"/>
            <p:cNvSpPr txBox="1"/>
            <p:nvPr/>
          </p:nvSpPr>
          <p:spPr>
            <a:xfrm>
              <a:off x="0" y="-47625"/>
              <a:ext cx="9509760" cy="1144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0" u="none" strike="noStrike" cap="non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→  </a:t>
              </a:r>
              <a:r>
                <a:rPr lang="en-US" sz="2300" b="1" i="0" u="none" strike="noStrike" cap="non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College / Institution:  </a:t>
              </a:r>
              <a:r>
                <a:rPr lang="en-US" sz="2300" b="0" i="0" u="none" strike="noStrike" cap="non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Vishwakarma Institute of Technology</a:t>
              </a:r>
              <a:endParaRPr/>
            </a:p>
          </p:txBody>
        </p:sp>
      </p:grpSp>
      <p:grpSp>
        <p:nvGrpSpPr>
          <p:cNvPr id="137" name="Google Shape;137;p2"/>
          <p:cNvGrpSpPr/>
          <p:nvPr/>
        </p:nvGrpSpPr>
        <p:grpSpPr>
          <a:xfrm>
            <a:off x="914400" y="6456521"/>
            <a:ext cx="7132320" cy="858679"/>
            <a:chOff x="0" y="-47625"/>
            <a:chExt cx="9509760" cy="1144905"/>
          </a:xfrm>
        </p:grpSpPr>
        <p:sp>
          <p:nvSpPr>
            <p:cNvPr id="138" name="Google Shape;138;p2"/>
            <p:cNvSpPr/>
            <p:nvPr/>
          </p:nvSpPr>
          <p:spPr>
            <a:xfrm>
              <a:off x="0" y="0"/>
              <a:ext cx="9509760" cy="1097280"/>
            </a:xfrm>
            <a:custGeom>
              <a:avLst/>
              <a:gdLst/>
              <a:ahLst/>
              <a:cxnLst/>
              <a:rect l="l" t="t" r="r" b="b"/>
              <a:pathLst>
                <a:path w="9509760" h="1097280" extrusionOk="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18873" b="-118873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Google Shape;139;p2"/>
            <p:cNvSpPr txBox="1"/>
            <p:nvPr/>
          </p:nvSpPr>
          <p:spPr>
            <a:xfrm>
              <a:off x="0" y="-47625"/>
              <a:ext cx="9509760" cy="1144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0" u="none" strike="noStrike" cap="non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→  </a:t>
              </a:r>
              <a:r>
                <a:rPr lang="en-US" sz="2300" b="1" i="0" u="none" strike="noStrike" cap="non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Team Size:  </a:t>
              </a:r>
              <a:r>
                <a:rPr lang="en-US" sz="2300" b="0" i="0" u="none" strike="noStrike" cap="non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4 members</a:t>
              </a:r>
              <a:endParaRPr/>
            </a:p>
          </p:txBody>
        </p:sp>
      </p:grpSp>
      <p:sp>
        <p:nvSpPr>
          <p:cNvPr id="140" name="Google Shape;140;p2"/>
          <p:cNvSpPr/>
          <p:nvPr/>
        </p:nvSpPr>
        <p:spPr>
          <a:xfrm>
            <a:off x="9131303" y="1998983"/>
            <a:ext cx="8620696" cy="7157656"/>
          </a:xfrm>
          <a:custGeom>
            <a:avLst/>
            <a:gdLst/>
            <a:ahLst/>
            <a:cxnLst/>
            <a:rect l="l" t="t" r="r" b="b"/>
            <a:pathLst>
              <a:path w="11494262" h="9543542" extrusionOk="0">
                <a:moveTo>
                  <a:pt x="0" y="293624"/>
                </a:moveTo>
                <a:cubicBezTo>
                  <a:pt x="0" y="131445"/>
                  <a:pt x="131445" y="0"/>
                  <a:pt x="293624" y="0"/>
                </a:cubicBezTo>
                <a:lnTo>
                  <a:pt x="11200638" y="0"/>
                </a:lnTo>
                <a:cubicBezTo>
                  <a:pt x="11362817" y="0"/>
                  <a:pt x="11494262" y="131445"/>
                  <a:pt x="11494262" y="293624"/>
                </a:cubicBezTo>
                <a:lnTo>
                  <a:pt x="11494262" y="9249918"/>
                </a:lnTo>
                <a:cubicBezTo>
                  <a:pt x="11494262" y="9412098"/>
                  <a:pt x="11362817" y="9543542"/>
                  <a:pt x="11200638" y="9543542"/>
                </a:cubicBezTo>
                <a:lnTo>
                  <a:pt x="293624" y="9543542"/>
                </a:lnTo>
                <a:cubicBezTo>
                  <a:pt x="131445" y="9543669"/>
                  <a:pt x="0" y="9412097"/>
                  <a:pt x="0" y="9249918"/>
                </a:cubicBezTo>
                <a:close/>
              </a:path>
            </a:pathLst>
          </a:custGeom>
          <a:solidFill>
            <a:srgbClr val="FFFFFF"/>
          </a:solidFill>
          <a:ln w="25400" cap="sq" cmpd="sng">
            <a:solidFill>
              <a:srgbClr val="E2EAF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1" name="Google Shape;141;p2"/>
          <p:cNvGrpSpPr/>
          <p:nvPr/>
        </p:nvGrpSpPr>
        <p:grpSpPr>
          <a:xfrm>
            <a:off x="9509760" y="2235994"/>
            <a:ext cx="7680960" cy="744950"/>
            <a:chOff x="0" y="-66675"/>
            <a:chExt cx="10241280" cy="993267"/>
          </a:xfrm>
        </p:grpSpPr>
        <p:sp>
          <p:nvSpPr>
            <p:cNvPr id="142" name="Google Shape;142;p2"/>
            <p:cNvSpPr/>
            <p:nvPr/>
          </p:nvSpPr>
          <p:spPr>
            <a:xfrm>
              <a:off x="0" y="0"/>
              <a:ext cx="10241280" cy="926592"/>
            </a:xfrm>
            <a:custGeom>
              <a:avLst/>
              <a:gdLst/>
              <a:ahLst/>
              <a:cxnLst/>
              <a:rect l="l" t="t" r="r" b="b"/>
              <a:pathLst>
                <a:path w="10241280" h="926592" extrusionOk="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336817" b="-336817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Google Shape;143;p2"/>
            <p:cNvSpPr txBox="1"/>
            <p:nvPr/>
          </p:nvSpPr>
          <p:spPr>
            <a:xfrm>
              <a:off x="0" y="-66675"/>
              <a:ext cx="10241280" cy="9932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🚀  Project Overview</a:t>
              </a:r>
              <a:endParaRPr/>
            </a:p>
          </p:txBody>
        </p:sp>
      </p:grpSp>
      <p:grpSp>
        <p:nvGrpSpPr>
          <p:cNvPr id="144" name="Google Shape;144;p2"/>
          <p:cNvGrpSpPr/>
          <p:nvPr/>
        </p:nvGrpSpPr>
        <p:grpSpPr>
          <a:xfrm>
            <a:off x="9509760" y="3109817"/>
            <a:ext cx="7680960" cy="675799"/>
            <a:chOff x="0" y="-47625"/>
            <a:chExt cx="10241280" cy="901065"/>
          </a:xfrm>
        </p:grpSpPr>
        <p:sp>
          <p:nvSpPr>
            <p:cNvPr id="145" name="Google Shape;145;p2"/>
            <p:cNvSpPr/>
            <p:nvPr/>
          </p:nvSpPr>
          <p:spPr>
            <a:xfrm>
              <a:off x="0" y="0"/>
              <a:ext cx="10241280" cy="853440"/>
            </a:xfrm>
            <a:custGeom>
              <a:avLst/>
              <a:gdLst/>
              <a:ahLst/>
              <a:cxnLst/>
              <a:rect l="l" t="t" r="r" b="b"/>
              <a:pathLst>
                <a:path w="10241280" h="853440" extrusionOk="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83820" b="-183820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Google Shape;146;p2"/>
            <p:cNvSpPr txBox="1"/>
            <p:nvPr/>
          </p:nvSpPr>
          <p:spPr>
            <a:xfrm>
              <a:off x="0" y="-47625"/>
              <a:ext cx="10241280" cy="9010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0" u="none" strike="noStrike" cap="non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Project Title:  </a:t>
              </a:r>
              <a:r>
                <a:rPr lang="en-US" sz="2300" b="0" i="0" u="none" strike="noStrike" cap="non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Patient-Tap</a:t>
              </a:r>
              <a:endParaRPr/>
            </a:p>
          </p:txBody>
        </p:sp>
      </p:grpSp>
      <p:grpSp>
        <p:nvGrpSpPr>
          <p:cNvPr id="147" name="Google Shape;147;p2"/>
          <p:cNvGrpSpPr/>
          <p:nvPr/>
        </p:nvGrpSpPr>
        <p:grpSpPr>
          <a:xfrm>
            <a:off x="9509760" y="3768185"/>
            <a:ext cx="7680960" cy="620935"/>
            <a:chOff x="0" y="-47625"/>
            <a:chExt cx="10241280" cy="827913"/>
          </a:xfrm>
        </p:grpSpPr>
        <p:sp>
          <p:nvSpPr>
            <p:cNvPr id="148" name="Google Shape;148;p2"/>
            <p:cNvSpPr/>
            <p:nvPr/>
          </p:nvSpPr>
          <p:spPr>
            <a:xfrm>
              <a:off x="0" y="0"/>
              <a:ext cx="10241280" cy="780288"/>
            </a:xfrm>
            <a:custGeom>
              <a:avLst/>
              <a:gdLst/>
              <a:ahLst/>
              <a:cxnLst/>
              <a:rect l="l" t="t" r="r" b="b"/>
              <a:pathLst>
                <a:path w="10241280" h="780288" extrusionOk="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05728" b="-205728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Google Shape;149;p2"/>
            <p:cNvSpPr txBox="1"/>
            <p:nvPr/>
          </p:nvSpPr>
          <p:spPr>
            <a:xfrm>
              <a:off x="0" y="-47625"/>
              <a:ext cx="10241280" cy="827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0" u="none" strike="noStrike" cap="non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Problem Domain:  </a:t>
              </a:r>
              <a:r>
                <a:rPr lang="en-US" sz="2300" b="0" i="0" u="none" strike="noStrike" cap="non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Select one below</a:t>
              </a:r>
              <a:endParaRPr/>
            </a:p>
          </p:txBody>
        </p:sp>
      </p:grpSp>
      <p:sp>
        <p:nvSpPr>
          <p:cNvPr id="150" name="Google Shape;150;p2"/>
          <p:cNvSpPr/>
          <p:nvPr/>
        </p:nvSpPr>
        <p:spPr>
          <a:xfrm>
            <a:off x="9497063" y="4559303"/>
            <a:ext cx="3682936" cy="720280"/>
          </a:xfrm>
          <a:custGeom>
            <a:avLst/>
            <a:gdLst/>
            <a:ahLst/>
            <a:cxnLst/>
            <a:rect l="l" t="t" r="r" b="b"/>
            <a:pathLst>
              <a:path w="4910582" h="960374" extrusionOk="0">
                <a:moveTo>
                  <a:pt x="0" y="454914"/>
                </a:moveTo>
                <a:cubicBezTo>
                  <a:pt x="0" y="203708"/>
                  <a:pt x="203708" y="0"/>
                  <a:pt x="454914" y="0"/>
                </a:cubicBezTo>
                <a:lnTo>
                  <a:pt x="4455668" y="0"/>
                </a:lnTo>
                <a:cubicBezTo>
                  <a:pt x="4706874" y="0"/>
                  <a:pt x="4910582" y="203708"/>
                  <a:pt x="4910582" y="454914"/>
                </a:cubicBezTo>
                <a:lnTo>
                  <a:pt x="4910582" y="505460"/>
                </a:lnTo>
                <a:cubicBezTo>
                  <a:pt x="4910582" y="756666"/>
                  <a:pt x="4706874" y="960374"/>
                  <a:pt x="4455668" y="960374"/>
                </a:cubicBezTo>
                <a:lnTo>
                  <a:pt x="454914" y="960374"/>
                </a:lnTo>
                <a:cubicBezTo>
                  <a:pt x="203708" y="960501"/>
                  <a:pt x="0" y="756793"/>
                  <a:pt x="0" y="505460"/>
                </a:cubicBezTo>
                <a:close/>
              </a:path>
            </a:pathLst>
          </a:custGeom>
          <a:solidFill>
            <a:srgbClr val="EBF4FB"/>
          </a:solidFill>
          <a:ln w="25400" cap="sq" cmpd="sng">
            <a:solidFill>
              <a:srgbClr val="C8E0F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1" name="Google Shape;151;p2"/>
          <p:cNvGrpSpPr/>
          <p:nvPr/>
        </p:nvGrpSpPr>
        <p:grpSpPr>
          <a:xfrm>
            <a:off x="9509760" y="4543425"/>
            <a:ext cx="3657600" cy="723519"/>
            <a:chOff x="0" y="-38100"/>
            <a:chExt cx="4876800" cy="964692"/>
          </a:xfrm>
        </p:grpSpPr>
        <p:sp>
          <p:nvSpPr>
            <p:cNvPr id="152" name="Google Shape;152;p2"/>
            <p:cNvSpPr/>
            <p:nvPr/>
          </p:nvSpPr>
          <p:spPr>
            <a:xfrm>
              <a:off x="0" y="0"/>
              <a:ext cx="4876800" cy="926592"/>
            </a:xfrm>
            <a:custGeom>
              <a:avLst/>
              <a:gdLst/>
              <a:ahLst/>
              <a:cxnLst/>
              <a:rect l="l" t="t" r="r" b="b"/>
              <a:pathLst>
                <a:path w="4876800" h="926592" extrusionOk="0">
                  <a:moveTo>
                    <a:pt x="0" y="0"/>
                  </a:moveTo>
                  <a:lnTo>
                    <a:pt x="4876800" y="0"/>
                  </a:lnTo>
                  <a:lnTo>
                    <a:pt x="487680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52551" b="-52551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Google Shape;153;p2"/>
            <p:cNvSpPr txBox="1"/>
            <p:nvPr/>
          </p:nvSpPr>
          <p:spPr>
            <a:xfrm>
              <a:off x="0" y="-38100"/>
              <a:ext cx="4876800" cy="9646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 b="0" i="0" u="none" strike="noStrike" cap="non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🤖 Agentic &amp; Generative</a:t>
              </a:r>
              <a:endParaRPr/>
            </a:p>
          </p:txBody>
        </p:sp>
      </p:grpSp>
      <p:sp>
        <p:nvSpPr>
          <p:cNvPr id="154" name="Google Shape;154;p2"/>
          <p:cNvSpPr/>
          <p:nvPr/>
        </p:nvSpPr>
        <p:spPr>
          <a:xfrm>
            <a:off x="13520423" y="4559303"/>
            <a:ext cx="3682936" cy="720280"/>
          </a:xfrm>
          <a:custGeom>
            <a:avLst/>
            <a:gdLst/>
            <a:ahLst/>
            <a:cxnLst/>
            <a:rect l="l" t="t" r="r" b="b"/>
            <a:pathLst>
              <a:path w="4910582" h="960374" extrusionOk="0">
                <a:moveTo>
                  <a:pt x="0" y="454914"/>
                </a:moveTo>
                <a:cubicBezTo>
                  <a:pt x="0" y="203708"/>
                  <a:pt x="203708" y="0"/>
                  <a:pt x="454914" y="0"/>
                </a:cubicBezTo>
                <a:lnTo>
                  <a:pt x="4455668" y="0"/>
                </a:lnTo>
                <a:cubicBezTo>
                  <a:pt x="4706874" y="0"/>
                  <a:pt x="4910582" y="203708"/>
                  <a:pt x="4910582" y="454914"/>
                </a:cubicBezTo>
                <a:lnTo>
                  <a:pt x="4910582" y="505460"/>
                </a:lnTo>
                <a:cubicBezTo>
                  <a:pt x="4910582" y="756666"/>
                  <a:pt x="4706874" y="960374"/>
                  <a:pt x="4455668" y="960374"/>
                </a:cubicBezTo>
                <a:lnTo>
                  <a:pt x="454914" y="960374"/>
                </a:lnTo>
                <a:cubicBezTo>
                  <a:pt x="203708" y="960501"/>
                  <a:pt x="0" y="756793"/>
                  <a:pt x="0" y="505460"/>
                </a:cubicBezTo>
                <a:close/>
              </a:path>
            </a:pathLst>
          </a:custGeom>
          <a:solidFill>
            <a:srgbClr val="EBF4FB"/>
          </a:solidFill>
          <a:ln w="25400" cap="sq" cmpd="sng">
            <a:solidFill>
              <a:srgbClr val="C8E0F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5" name="Google Shape;155;p2"/>
          <p:cNvGrpSpPr/>
          <p:nvPr/>
        </p:nvGrpSpPr>
        <p:grpSpPr>
          <a:xfrm>
            <a:off x="13533120" y="4543425"/>
            <a:ext cx="3657600" cy="723519"/>
            <a:chOff x="0" y="-38100"/>
            <a:chExt cx="4876800" cy="964692"/>
          </a:xfrm>
        </p:grpSpPr>
        <p:sp>
          <p:nvSpPr>
            <p:cNvPr id="156" name="Google Shape;156;p2"/>
            <p:cNvSpPr/>
            <p:nvPr/>
          </p:nvSpPr>
          <p:spPr>
            <a:xfrm>
              <a:off x="0" y="0"/>
              <a:ext cx="4876800" cy="926592"/>
            </a:xfrm>
            <a:custGeom>
              <a:avLst/>
              <a:gdLst/>
              <a:ahLst/>
              <a:cxnLst/>
              <a:rect l="l" t="t" r="r" b="b"/>
              <a:pathLst>
                <a:path w="4876800" h="926592" extrusionOk="0">
                  <a:moveTo>
                    <a:pt x="0" y="0"/>
                  </a:moveTo>
                  <a:lnTo>
                    <a:pt x="4876800" y="0"/>
                  </a:lnTo>
                  <a:lnTo>
                    <a:pt x="487680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52551" b="-52551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Google Shape;157;p2"/>
            <p:cNvSpPr txBox="1"/>
            <p:nvPr/>
          </p:nvSpPr>
          <p:spPr>
            <a:xfrm>
              <a:off x="0" y="-38100"/>
              <a:ext cx="4876800" cy="9646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 b="0" i="0" u="none" strike="noStrike" cap="non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🔐 Fintech &amp; Cyber</a:t>
              </a:r>
              <a:endParaRPr/>
            </a:p>
          </p:txBody>
        </p:sp>
      </p:grpSp>
      <p:sp>
        <p:nvSpPr>
          <p:cNvPr id="158" name="Google Shape;158;p2"/>
          <p:cNvSpPr/>
          <p:nvPr/>
        </p:nvSpPr>
        <p:spPr>
          <a:xfrm>
            <a:off x="9497063" y="5693159"/>
            <a:ext cx="3682936" cy="720280"/>
          </a:xfrm>
          <a:custGeom>
            <a:avLst/>
            <a:gdLst/>
            <a:ahLst/>
            <a:cxnLst/>
            <a:rect l="l" t="t" r="r" b="b"/>
            <a:pathLst>
              <a:path w="4910582" h="960374" extrusionOk="0">
                <a:moveTo>
                  <a:pt x="0" y="454914"/>
                </a:moveTo>
                <a:cubicBezTo>
                  <a:pt x="0" y="203708"/>
                  <a:pt x="203708" y="0"/>
                  <a:pt x="454914" y="0"/>
                </a:cubicBezTo>
                <a:lnTo>
                  <a:pt x="4455668" y="0"/>
                </a:lnTo>
                <a:cubicBezTo>
                  <a:pt x="4706874" y="0"/>
                  <a:pt x="4910582" y="203708"/>
                  <a:pt x="4910582" y="454914"/>
                </a:cubicBezTo>
                <a:lnTo>
                  <a:pt x="4910582" y="505460"/>
                </a:lnTo>
                <a:cubicBezTo>
                  <a:pt x="4910582" y="756666"/>
                  <a:pt x="4706874" y="960374"/>
                  <a:pt x="4455668" y="960374"/>
                </a:cubicBezTo>
                <a:lnTo>
                  <a:pt x="454914" y="960374"/>
                </a:lnTo>
                <a:cubicBezTo>
                  <a:pt x="203708" y="960501"/>
                  <a:pt x="0" y="756793"/>
                  <a:pt x="0" y="505460"/>
                </a:cubicBezTo>
                <a:close/>
              </a:path>
            </a:pathLst>
          </a:custGeom>
          <a:solidFill>
            <a:srgbClr val="EBF4FB"/>
          </a:solidFill>
          <a:ln w="25400" cap="sq" cmpd="sng">
            <a:solidFill>
              <a:srgbClr val="C8E0F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9" name="Google Shape;159;p2"/>
          <p:cNvGrpSpPr/>
          <p:nvPr/>
        </p:nvGrpSpPr>
        <p:grpSpPr>
          <a:xfrm>
            <a:off x="9509760" y="5677281"/>
            <a:ext cx="3657600" cy="723519"/>
            <a:chOff x="0" y="-38100"/>
            <a:chExt cx="4876800" cy="964692"/>
          </a:xfrm>
        </p:grpSpPr>
        <p:sp>
          <p:nvSpPr>
            <p:cNvPr id="160" name="Google Shape;160;p2"/>
            <p:cNvSpPr/>
            <p:nvPr/>
          </p:nvSpPr>
          <p:spPr>
            <a:xfrm>
              <a:off x="0" y="0"/>
              <a:ext cx="4876800" cy="926592"/>
            </a:xfrm>
            <a:custGeom>
              <a:avLst/>
              <a:gdLst/>
              <a:ahLst/>
              <a:cxnLst/>
              <a:rect l="l" t="t" r="r" b="b"/>
              <a:pathLst>
                <a:path w="4876800" h="926592" extrusionOk="0">
                  <a:moveTo>
                    <a:pt x="0" y="0"/>
                  </a:moveTo>
                  <a:lnTo>
                    <a:pt x="4876800" y="0"/>
                  </a:lnTo>
                  <a:lnTo>
                    <a:pt x="487680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52551" b="-52551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Google Shape;161;p2"/>
            <p:cNvSpPr txBox="1"/>
            <p:nvPr/>
          </p:nvSpPr>
          <p:spPr>
            <a:xfrm>
              <a:off x="0" y="-38100"/>
              <a:ext cx="4876800" cy="9646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 b="0" i="0" u="none" strike="noStrike" cap="non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🌾 Agritech &amp; Open</a:t>
              </a:r>
              <a:endParaRPr/>
            </a:p>
          </p:txBody>
        </p:sp>
      </p:grpSp>
      <p:sp>
        <p:nvSpPr>
          <p:cNvPr id="162" name="Google Shape;162;p2"/>
          <p:cNvSpPr/>
          <p:nvPr/>
        </p:nvSpPr>
        <p:spPr>
          <a:xfrm>
            <a:off x="13520423" y="5693159"/>
            <a:ext cx="3682936" cy="720280"/>
          </a:xfrm>
          <a:custGeom>
            <a:avLst/>
            <a:gdLst/>
            <a:ahLst/>
            <a:cxnLst/>
            <a:rect l="l" t="t" r="r" b="b"/>
            <a:pathLst>
              <a:path w="4910582" h="960374" extrusionOk="0">
                <a:moveTo>
                  <a:pt x="0" y="454914"/>
                </a:moveTo>
                <a:cubicBezTo>
                  <a:pt x="0" y="203708"/>
                  <a:pt x="203708" y="0"/>
                  <a:pt x="454914" y="0"/>
                </a:cubicBezTo>
                <a:lnTo>
                  <a:pt x="4455668" y="0"/>
                </a:lnTo>
                <a:cubicBezTo>
                  <a:pt x="4706874" y="0"/>
                  <a:pt x="4910582" y="203708"/>
                  <a:pt x="4910582" y="454914"/>
                </a:cubicBezTo>
                <a:lnTo>
                  <a:pt x="4910582" y="505460"/>
                </a:lnTo>
                <a:cubicBezTo>
                  <a:pt x="4910582" y="756666"/>
                  <a:pt x="4706874" y="960374"/>
                  <a:pt x="4455668" y="960374"/>
                </a:cubicBezTo>
                <a:lnTo>
                  <a:pt x="454914" y="960374"/>
                </a:lnTo>
                <a:cubicBezTo>
                  <a:pt x="203708" y="960501"/>
                  <a:pt x="0" y="756793"/>
                  <a:pt x="0" y="505460"/>
                </a:cubicBezTo>
                <a:close/>
              </a:path>
            </a:pathLst>
          </a:custGeom>
          <a:solidFill>
            <a:srgbClr val="EBF4FB"/>
          </a:solidFill>
          <a:ln w="25400" cap="sq" cmpd="sng">
            <a:solidFill>
              <a:srgbClr val="C8E0F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3" name="Google Shape;163;p2"/>
          <p:cNvGrpSpPr/>
          <p:nvPr/>
        </p:nvGrpSpPr>
        <p:grpSpPr>
          <a:xfrm>
            <a:off x="13533120" y="5677281"/>
            <a:ext cx="3657600" cy="723519"/>
            <a:chOff x="0" y="-38100"/>
            <a:chExt cx="4876800" cy="964692"/>
          </a:xfrm>
        </p:grpSpPr>
        <p:sp>
          <p:nvSpPr>
            <p:cNvPr id="164" name="Google Shape;164;p2"/>
            <p:cNvSpPr/>
            <p:nvPr/>
          </p:nvSpPr>
          <p:spPr>
            <a:xfrm>
              <a:off x="0" y="0"/>
              <a:ext cx="4876800" cy="926592"/>
            </a:xfrm>
            <a:custGeom>
              <a:avLst/>
              <a:gdLst/>
              <a:ahLst/>
              <a:cxnLst/>
              <a:rect l="l" t="t" r="r" b="b"/>
              <a:pathLst>
                <a:path w="4876800" h="926592" extrusionOk="0">
                  <a:moveTo>
                    <a:pt x="0" y="0"/>
                  </a:moveTo>
                  <a:lnTo>
                    <a:pt x="4876800" y="0"/>
                  </a:lnTo>
                  <a:lnTo>
                    <a:pt x="487680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52551" b="-52551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Google Shape;165;p2"/>
            <p:cNvSpPr txBox="1"/>
            <p:nvPr/>
          </p:nvSpPr>
          <p:spPr>
            <a:xfrm>
              <a:off x="0" y="-38100"/>
              <a:ext cx="4876800" cy="9646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 b="0" i="0" u="none" strike="noStrike" cap="non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🏙 Smart &amp; Mobility</a:t>
              </a:r>
              <a:endParaRPr/>
            </a:p>
          </p:txBody>
        </p:sp>
      </p:grpSp>
      <p:sp>
        <p:nvSpPr>
          <p:cNvPr id="166" name="Google Shape;166;p2"/>
          <p:cNvSpPr/>
          <p:nvPr/>
        </p:nvSpPr>
        <p:spPr>
          <a:xfrm>
            <a:off x="9497063" y="6827015"/>
            <a:ext cx="3682936" cy="720280"/>
          </a:xfrm>
          <a:custGeom>
            <a:avLst/>
            <a:gdLst/>
            <a:ahLst/>
            <a:cxnLst/>
            <a:rect l="l" t="t" r="r" b="b"/>
            <a:pathLst>
              <a:path w="4910582" h="960374" extrusionOk="0">
                <a:moveTo>
                  <a:pt x="0" y="454914"/>
                </a:moveTo>
                <a:cubicBezTo>
                  <a:pt x="0" y="203708"/>
                  <a:pt x="203708" y="0"/>
                  <a:pt x="454914" y="0"/>
                </a:cubicBezTo>
                <a:lnTo>
                  <a:pt x="4455668" y="0"/>
                </a:lnTo>
                <a:cubicBezTo>
                  <a:pt x="4706874" y="0"/>
                  <a:pt x="4910582" y="203708"/>
                  <a:pt x="4910582" y="454914"/>
                </a:cubicBezTo>
                <a:lnTo>
                  <a:pt x="4910582" y="505460"/>
                </a:lnTo>
                <a:cubicBezTo>
                  <a:pt x="4910582" y="756666"/>
                  <a:pt x="4706874" y="960374"/>
                  <a:pt x="4455668" y="960374"/>
                </a:cubicBezTo>
                <a:lnTo>
                  <a:pt x="454914" y="960374"/>
                </a:lnTo>
                <a:cubicBezTo>
                  <a:pt x="203708" y="960501"/>
                  <a:pt x="0" y="756793"/>
                  <a:pt x="0" y="505460"/>
                </a:cubicBezTo>
                <a:close/>
              </a:path>
            </a:pathLst>
          </a:custGeom>
          <a:solidFill>
            <a:srgbClr val="1B8FC4"/>
          </a:solidFill>
          <a:ln w="25400" cap="sq" cmpd="sng">
            <a:solidFill>
              <a:srgbClr val="1B8FC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7" name="Google Shape;167;p2"/>
          <p:cNvGrpSpPr/>
          <p:nvPr/>
        </p:nvGrpSpPr>
        <p:grpSpPr>
          <a:xfrm>
            <a:off x="9509760" y="6811137"/>
            <a:ext cx="3657600" cy="723519"/>
            <a:chOff x="0" y="-38100"/>
            <a:chExt cx="4876800" cy="964692"/>
          </a:xfrm>
        </p:grpSpPr>
        <p:sp>
          <p:nvSpPr>
            <p:cNvPr id="168" name="Google Shape;168;p2"/>
            <p:cNvSpPr/>
            <p:nvPr/>
          </p:nvSpPr>
          <p:spPr>
            <a:xfrm>
              <a:off x="0" y="0"/>
              <a:ext cx="4876800" cy="926592"/>
            </a:xfrm>
            <a:custGeom>
              <a:avLst/>
              <a:gdLst/>
              <a:ahLst/>
              <a:cxnLst/>
              <a:rect l="l" t="t" r="r" b="b"/>
              <a:pathLst>
                <a:path w="4876800" h="926592" extrusionOk="0">
                  <a:moveTo>
                    <a:pt x="0" y="0"/>
                  </a:moveTo>
                  <a:lnTo>
                    <a:pt x="4876800" y="0"/>
                  </a:lnTo>
                  <a:lnTo>
                    <a:pt x="487680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52551" b="-52551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Google Shape;169;p2"/>
            <p:cNvSpPr txBox="1"/>
            <p:nvPr/>
          </p:nvSpPr>
          <p:spPr>
            <a:xfrm>
              <a:off x="0" y="-38100"/>
              <a:ext cx="4876800" cy="9646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❤ Healthcare &amp; MedTech</a:t>
              </a:r>
              <a:endParaRPr/>
            </a:p>
          </p:txBody>
        </p:sp>
      </p:grpSp>
      <p:sp>
        <p:nvSpPr>
          <p:cNvPr id="170" name="Google Shape;170;p2"/>
          <p:cNvSpPr/>
          <p:nvPr/>
        </p:nvSpPr>
        <p:spPr>
          <a:xfrm>
            <a:off x="13520423" y="6827015"/>
            <a:ext cx="3682936" cy="720280"/>
          </a:xfrm>
          <a:custGeom>
            <a:avLst/>
            <a:gdLst/>
            <a:ahLst/>
            <a:cxnLst/>
            <a:rect l="l" t="t" r="r" b="b"/>
            <a:pathLst>
              <a:path w="4910582" h="960374" extrusionOk="0">
                <a:moveTo>
                  <a:pt x="0" y="454914"/>
                </a:moveTo>
                <a:cubicBezTo>
                  <a:pt x="0" y="203708"/>
                  <a:pt x="203708" y="0"/>
                  <a:pt x="454914" y="0"/>
                </a:cubicBezTo>
                <a:lnTo>
                  <a:pt x="4455668" y="0"/>
                </a:lnTo>
                <a:cubicBezTo>
                  <a:pt x="4706874" y="0"/>
                  <a:pt x="4910582" y="203708"/>
                  <a:pt x="4910582" y="454914"/>
                </a:cubicBezTo>
                <a:lnTo>
                  <a:pt x="4910582" y="505460"/>
                </a:lnTo>
                <a:cubicBezTo>
                  <a:pt x="4910582" y="756666"/>
                  <a:pt x="4706874" y="960374"/>
                  <a:pt x="4455668" y="960374"/>
                </a:cubicBezTo>
                <a:lnTo>
                  <a:pt x="454914" y="960374"/>
                </a:lnTo>
                <a:cubicBezTo>
                  <a:pt x="203708" y="960501"/>
                  <a:pt x="0" y="756793"/>
                  <a:pt x="0" y="505460"/>
                </a:cubicBezTo>
                <a:close/>
              </a:path>
            </a:pathLst>
          </a:custGeom>
          <a:solidFill>
            <a:srgbClr val="EBF4FB"/>
          </a:solidFill>
          <a:ln w="25400" cap="sq" cmpd="sng">
            <a:solidFill>
              <a:srgbClr val="C8E0F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" name="Google Shape;171;p2"/>
          <p:cNvGrpSpPr/>
          <p:nvPr/>
        </p:nvGrpSpPr>
        <p:grpSpPr>
          <a:xfrm>
            <a:off x="13533120" y="6811137"/>
            <a:ext cx="3657600" cy="723519"/>
            <a:chOff x="0" y="-38100"/>
            <a:chExt cx="4876800" cy="964692"/>
          </a:xfrm>
        </p:grpSpPr>
        <p:sp>
          <p:nvSpPr>
            <p:cNvPr id="172" name="Google Shape;172;p2"/>
            <p:cNvSpPr/>
            <p:nvPr/>
          </p:nvSpPr>
          <p:spPr>
            <a:xfrm>
              <a:off x="0" y="0"/>
              <a:ext cx="4876800" cy="926592"/>
            </a:xfrm>
            <a:custGeom>
              <a:avLst/>
              <a:gdLst/>
              <a:ahLst/>
              <a:cxnLst/>
              <a:rect l="l" t="t" r="r" b="b"/>
              <a:pathLst>
                <a:path w="4876800" h="926592" extrusionOk="0">
                  <a:moveTo>
                    <a:pt x="0" y="0"/>
                  </a:moveTo>
                  <a:lnTo>
                    <a:pt x="4876800" y="0"/>
                  </a:lnTo>
                  <a:lnTo>
                    <a:pt x="487680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52551" b="-52551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Google Shape;173;p2"/>
            <p:cNvSpPr txBox="1"/>
            <p:nvPr/>
          </p:nvSpPr>
          <p:spPr>
            <a:xfrm>
              <a:off x="0" y="-38100"/>
              <a:ext cx="4876800" cy="9646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 b="0" i="0" u="none" strike="noStrike" cap="non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🔗 Blockchain &amp; Web3</a:t>
              </a:r>
              <a:endParaRPr/>
            </a:p>
          </p:txBody>
        </p:sp>
      </p:grpSp>
      <p:sp>
        <p:nvSpPr>
          <p:cNvPr id="174" name="Google Shape;174;p2"/>
          <p:cNvSpPr/>
          <p:nvPr/>
        </p:nvSpPr>
        <p:spPr>
          <a:xfrm>
            <a:off x="15798500" y="238800"/>
            <a:ext cx="2143125" cy="1475499"/>
          </a:xfrm>
          <a:custGeom>
            <a:avLst/>
            <a:gdLst/>
            <a:ahLst/>
            <a:cxnLst/>
            <a:rect l="l" t="t" r="r" b="b"/>
            <a:pathLst>
              <a:path w="2143125" h="1475499" extrusionOk="0">
                <a:moveTo>
                  <a:pt x="0" y="0"/>
                </a:moveTo>
                <a:lnTo>
                  <a:pt x="2143125" y="0"/>
                </a:lnTo>
                <a:lnTo>
                  <a:pt x="2143125" y="1475499"/>
                </a:lnTo>
                <a:lnTo>
                  <a:pt x="0" y="14754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697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3"/>
          <p:cNvGrpSpPr/>
          <p:nvPr/>
        </p:nvGrpSpPr>
        <p:grpSpPr>
          <a:xfrm>
            <a:off x="640080" y="9609201"/>
            <a:ext cx="4572000" cy="485775"/>
            <a:chOff x="0" y="-38100"/>
            <a:chExt cx="6096000" cy="647700"/>
          </a:xfrm>
        </p:grpSpPr>
        <p:sp>
          <p:nvSpPr>
            <p:cNvPr id="180" name="Google Shape;180;p3"/>
            <p:cNvSpPr/>
            <p:nvPr/>
          </p:nvSpPr>
          <p:spPr>
            <a:xfrm>
              <a:off x="0" y="0"/>
              <a:ext cx="6096000" cy="609600"/>
            </a:xfrm>
            <a:custGeom>
              <a:avLst/>
              <a:gdLst/>
              <a:ahLst/>
              <a:cxnLst/>
              <a:rect l="l" t="t" r="r" b="b"/>
              <a:pathLst>
                <a:path w="6096000" h="609600" extrusionOk="0">
                  <a:moveTo>
                    <a:pt x="0" y="0"/>
                  </a:moveTo>
                  <a:lnTo>
                    <a:pt x="6096000" y="0"/>
                  </a:lnTo>
                  <a:lnTo>
                    <a:pt x="609600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44856" b="-144856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Google Shape;181;p3"/>
            <p:cNvSpPr txBox="1"/>
            <p:nvPr/>
          </p:nvSpPr>
          <p:spPr>
            <a:xfrm>
              <a:off x="0" y="-38100"/>
              <a:ext cx="60960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u="none" strike="noStrike" cap="non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© CODEAMBLE 2026</a:t>
              </a:r>
              <a:endParaRPr/>
            </a:p>
          </p:txBody>
        </p:sp>
      </p:grpSp>
      <p:grpSp>
        <p:nvGrpSpPr>
          <p:cNvPr id="182" name="Google Shape;182;p3"/>
          <p:cNvGrpSpPr/>
          <p:nvPr/>
        </p:nvGrpSpPr>
        <p:grpSpPr>
          <a:xfrm>
            <a:off x="6400800" y="9609201"/>
            <a:ext cx="5852160" cy="485775"/>
            <a:chOff x="0" y="-38100"/>
            <a:chExt cx="7802880" cy="647700"/>
          </a:xfrm>
        </p:grpSpPr>
        <p:sp>
          <p:nvSpPr>
            <p:cNvPr id="183" name="Google Shape;183;p3"/>
            <p:cNvSpPr/>
            <p:nvPr/>
          </p:nvSpPr>
          <p:spPr>
            <a:xfrm>
              <a:off x="0" y="0"/>
              <a:ext cx="7802880" cy="609600"/>
            </a:xfrm>
            <a:custGeom>
              <a:avLst/>
              <a:gdLst/>
              <a:ahLst/>
              <a:cxnLst/>
              <a:rect l="l" t="t" r="r" b="b"/>
              <a:pathLst>
                <a:path w="7802880" h="609600" extrusionOk="0">
                  <a:moveTo>
                    <a:pt x="0" y="0"/>
                  </a:moveTo>
                  <a:lnTo>
                    <a:pt x="7802880" y="0"/>
                  </a:lnTo>
                  <a:lnTo>
                    <a:pt x="780288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99401" b="-199401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Google Shape;184;p3"/>
            <p:cNvSpPr txBox="1"/>
            <p:nvPr/>
          </p:nvSpPr>
          <p:spPr>
            <a:xfrm>
              <a:off x="0" y="-38100"/>
              <a:ext cx="7802880" cy="64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u="none" strike="noStrike" cap="non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ZEN Club – </a:t>
              </a:r>
              <a:r>
                <a:rPr lang="en-US" sz="1700" b="1" i="0" u="none" strike="noStrike" cap="non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Zone of Engineering Innovators</a:t>
              </a:r>
              <a:endParaRPr/>
            </a:p>
          </p:txBody>
        </p:sp>
      </p:grpSp>
      <p:grpSp>
        <p:nvGrpSpPr>
          <p:cNvPr id="185" name="Google Shape;185;p3"/>
          <p:cNvGrpSpPr/>
          <p:nvPr/>
        </p:nvGrpSpPr>
        <p:grpSpPr>
          <a:xfrm>
            <a:off x="12984480" y="9609201"/>
            <a:ext cx="5120640" cy="485775"/>
            <a:chOff x="0" y="-38100"/>
            <a:chExt cx="6827520" cy="647700"/>
          </a:xfrm>
        </p:grpSpPr>
        <p:sp>
          <p:nvSpPr>
            <p:cNvPr id="186" name="Google Shape;186;p3"/>
            <p:cNvSpPr/>
            <p:nvPr/>
          </p:nvSpPr>
          <p:spPr>
            <a:xfrm>
              <a:off x="0" y="0"/>
              <a:ext cx="6827520" cy="609600"/>
            </a:xfrm>
            <a:custGeom>
              <a:avLst/>
              <a:gdLst/>
              <a:ahLst/>
              <a:cxnLst/>
              <a:rect l="l" t="t" r="r" b="b"/>
              <a:pathLst>
                <a:path w="6827520" h="609600" extrusionOk="0">
                  <a:moveTo>
                    <a:pt x="0" y="0"/>
                  </a:moveTo>
                  <a:lnTo>
                    <a:pt x="6827520" y="0"/>
                  </a:lnTo>
                  <a:lnTo>
                    <a:pt x="682752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68226" b="-168226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Google Shape;187;p3"/>
            <p:cNvSpPr txBox="1"/>
            <p:nvPr/>
          </p:nvSpPr>
          <p:spPr>
            <a:xfrm>
              <a:off x="0" y="-38100"/>
              <a:ext cx="6827520" cy="64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u="none" strike="noStrike" cap="non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contact@zoneofengineeringinnovators.com</a:t>
              </a:r>
              <a:endParaRPr/>
            </a:p>
          </p:txBody>
        </p:sp>
      </p:grpSp>
      <p:grpSp>
        <p:nvGrpSpPr>
          <p:cNvPr id="188" name="Google Shape;188;p3"/>
          <p:cNvGrpSpPr/>
          <p:nvPr/>
        </p:nvGrpSpPr>
        <p:grpSpPr>
          <a:xfrm>
            <a:off x="548640" y="215741"/>
            <a:ext cx="2011680" cy="1521619"/>
            <a:chOff x="0" y="-200025"/>
            <a:chExt cx="2682240" cy="2028825"/>
          </a:xfrm>
        </p:grpSpPr>
        <p:sp>
          <p:nvSpPr>
            <p:cNvPr id="189" name="Google Shape;189;p3"/>
            <p:cNvSpPr/>
            <p:nvPr/>
          </p:nvSpPr>
          <p:spPr>
            <a:xfrm>
              <a:off x="0" y="0"/>
              <a:ext cx="2682240" cy="1828800"/>
            </a:xfrm>
            <a:custGeom>
              <a:avLst/>
              <a:gdLst/>
              <a:ahLst/>
              <a:cxnLst/>
              <a:rect l="l" t="t" r="r" b="b"/>
              <a:pathLst>
                <a:path w="2682240" h="1828800" extrusionOk="0">
                  <a:moveTo>
                    <a:pt x="0" y="0"/>
                  </a:moveTo>
                  <a:lnTo>
                    <a:pt x="2682240" y="0"/>
                  </a:lnTo>
                  <a:lnTo>
                    <a:pt x="2682240" y="1828800"/>
                  </a:lnTo>
                  <a:lnTo>
                    <a:pt x="0" y="1828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37480" r="-37480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Google Shape;190;p3"/>
            <p:cNvSpPr txBox="1"/>
            <p:nvPr/>
          </p:nvSpPr>
          <p:spPr>
            <a:xfrm>
              <a:off x="0" y="-200025"/>
              <a:ext cx="2682240" cy="2028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99" b="1" i="0" u="none" strike="noStrike" cap="none">
                  <a:solidFill>
                    <a:srgbClr val="D0DFF0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/>
            </a:p>
          </p:txBody>
        </p:sp>
      </p:grpSp>
      <p:grpSp>
        <p:nvGrpSpPr>
          <p:cNvPr id="191" name="Google Shape;191;p3"/>
          <p:cNvGrpSpPr/>
          <p:nvPr/>
        </p:nvGrpSpPr>
        <p:grpSpPr>
          <a:xfrm>
            <a:off x="2377440" y="433483"/>
            <a:ext cx="12801600" cy="992981"/>
            <a:chOff x="0" y="-104775"/>
            <a:chExt cx="17068800" cy="1323975"/>
          </a:xfrm>
        </p:grpSpPr>
        <p:sp>
          <p:nvSpPr>
            <p:cNvPr id="192" name="Google Shape;192;p3"/>
            <p:cNvSpPr/>
            <p:nvPr/>
          </p:nvSpPr>
          <p:spPr>
            <a:xfrm>
              <a:off x="0" y="0"/>
              <a:ext cx="17068800" cy="1219200"/>
            </a:xfrm>
            <a:custGeom>
              <a:avLst/>
              <a:gdLst/>
              <a:ahLst/>
              <a:cxnLst/>
              <a:rect l="l" t="t" r="r" b="b"/>
              <a:pathLst>
                <a:path w="17068800" h="1219200" extrusionOk="0">
                  <a:moveTo>
                    <a:pt x="0" y="0"/>
                  </a:moveTo>
                  <a:lnTo>
                    <a:pt x="17068800" y="0"/>
                  </a:lnTo>
                  <a:lnTo>
                    <a:pt x="1706880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440004" b="-440004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Google Shape;193;p3"/>
            <p:cNvSpPr txBox="1"/>
            <p:nvPr/>
          </p:nvSpPr>
          <p:spPr>
            <a:xfrm>
              <a:off x="0" y="-104775"/>
              <a:ext cx="17068800" cy="1323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200" b="1" i="0" u="none" strike="noStrike" cap="non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Problem Statement</a:t>
              </a:r>
              <a:endParaRPr/>
            </a:p>
          </p:txBody>
        </p:sp>
      </p:grpSp>
      <p:grpSp>
        <p:nvGrpSpPr>
          <p:cNvPr id="194" name="Google Shape;194;p3"/>
          <p:cNvGrpSpPr/>
          <p:nvPr/>
        </p:nvGrpSpPr>
        <p:grpSpPr>
          <a:xfrm>
            <a:off x="2377440" y="1288161"/>
            <a:ext cx="12801600" cy="540639"/>
            <a:chOff x="0" y="-38100"/>
            <a:chExt cx="17068800" cy="720852"/>
          </a:xfrm>
        </p:grpSpPr>
        <p:sp>
          <p:nvSpPr>
            <p:cNvPr id="195" name="Google Shape;195;p3"/>
            <p:cNvSpPr/>
            <p:nvPr/>
          </p:nvSpPr>
          <p:spPr>
            <a:xfrm>
              <a:off x="0" y="0"/>
              <a:ext cx="17068800" cy="682752"/>
            </a:xfrm>
            <a:custGeom>
              <a:avLst/>
              <a:gdLst/>
              <a:ahLst/>
              <a:cxnLst/>
              <a:rect l="l" t="t" r="r" b="b"/>
              <a:pathLst>
                <a:path w="17068800" h="682752" extrusionOk="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37140" b="-437140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Google Shape;196;p3"/>
            <p:cNvSpPr txBox="1"/>
            <p:nvPr/>
          </p:nvSpPr>
          <p:spPr>
            <a:xfrm>
              <a:off x="0" y="-38100"/>
              <a:ext cx="17068800" cy="7208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What problem are you solving and why does it matter?</a:t>
              </a:r>
              <a:endParaRPr/>
            </a:p>
          </p:txBody>
        </p:sp>
      </p:grpSp>
      <p:sp>
        <p:nvSpPr>
          <p:cNvPr id="197" name="Google Shape;197;p3"/>
          <p:cNvSpPr/>
          <p:nvPr/>
        </p:nvSpPr>
        <p:spPr>
          <a:xfrm>
            <a:off x="535943" y="1998983"/>
            <a:ext cx="17216151" cy="2128551"/>
          </a:xfrm>
          <a:custGeom>
            <a:avLst/>
            <a:gdLst/>
            <a:ahLst/>
            <a:cxnLst/>
            <a:rect l="l" t="t" r="r" b="b"/>
            <a:pathLst>
              <a:path w="22954869" h="2838069" extrusionOk="0">
                <a:moveTo>
                  <a:pt x="0" y="296164"/>
                </a:moveTo>
                <a:cubicBezTo>
                  <a:pt x="0" y="132588"/>
                  <a:pt x="132588" y="0"/>
                  <a:pt x="296164" y="0"/>
                </a:cubicBezTo>
                <a:lnTo>
                  <a:pt x="22658705" y="0"/>
                </a:lnTo>
                <a:cubicBezTo>
                  <a:pt x="22822281" y="0"/>
                  <a:pt x="22954869" y="132588"/>
                  <a:pt x="22954869" y="296164"/>
                </a:cubicBezTo>
                <a:lnTo>
                  <a:pt x="22954869" y="2541905"/>
                </a:lnTo>
                <a:cubicBezTo>
                  <a:pt x="22954869" y="2705481"/>
                  <a:pt x="22822281" y="2838069"/>
                  <a:pt x="22658705" y="2838069"/>
                </a:cubicBezTo>
                <a:lnTo>
                  <a:pt x="296164" y="2838069"/>
                </a:lnTo>
                <a:cubicBezTo>
                  <a:pt x="132588" y="2838069"/>
                  <a:pt x="0" y="2705481"/>
                  <a:pt x="0" y="2541905"/>
                </a:cubicBezTo>
                <a:close/>
              </a:path>
            </a:pathLst>
          </a:custGeom>
          <a:solidFill>
            <a:srgbClr val="FFFFFF"/>
          </a:solidFill>
          <a:ln w="25400" cap="sq" cmpd="sng">
            <a:solidFill>
              <a:srgbClr val="E2EAF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8" name="Google Shape;198;p3"/>
          <p:cNvGrpSpPr/>
          <p:nvPr/>
        </p:nvGrpSpPr>
        <p:grpSpPr>
          <a:xfrm>
            <a:off x="1005840" y="2158841"/>
            <a:ext cx="16093440" cy="675799"/>
            <a:chOff x="0" y="-47625"/>
            <a:chExt cx="21457920" cy="901065"/>
          </a:xfrm>
        </p:grpSpPr>
        <p:sp>
          <p:nvSpPr>
            <p:cNvPr id="199" name="Google Shape;199;p3"/>
            <p:cNvSpPr/>
            <p:nvPr/>
          </p:nvSpPr>
          <p:spPr>
            <a:xfrm>
              <a:off x="0" y="0"/>
              <a:ext cx="21457920" cy="853440"/>
            </a:xfrm>
            <a:custGeom>
              <a:avLst/>
              <a:gdLst/>
              <a:ahLst/>
              <a:cxnLst/>
              <a:rect l="l" t="t" r="r" b="b"/>
              <a:pathLst>
                <a:path w="21457920" h="853440" extrusionOk="0">
                  <a:moveTo>
                    <a:pt x="0" y="0"/>
                  </a:moveTo>
                  <a:lnTo>
                    <a:pt x="21457920" y="0"/>
                  </a:lnTo>
                  <a:lnTo>
                    <a:pt x="2145792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39908" b="-439908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Google Shape;200;p3"/>
            <p:cNvSpPr txBox="1"/>
            <p:nvPr/>
          </p:nvSpPr>
          <p:spPr>
            <a:xfrm>
              <a:off x="0" y="-47625"/>
              <a:ext cx="21457920" cy="9010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 b="1" i="0" u="none" strike="noStrike" cap="non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🎯  The Problem</a:t>
              </a:r>
              <a:endParaRPr/>
            </a:p>
          </p:txBody>
        </p:sp>
      </p:grpSp>
      <p:grpSp>
        <p:nvGrpSpPr>
          <p:cNvPr id="201" name="Google Shape;201;p3"/>
          <p:cNvGrpSpPr/>
          <p:nvPr/>
        </p:nvGrpSpPr>
        <p:grpSpPr>
          <a:xfrm>
            <a:off x="1005840" y="2798921"/>
            <a:ext cx="16093440" cy="1041559"/>
            <a:chOff x="0" y="-47625"/>
            <a:chExt cx="21457920" cy="1388745"/>
          </a:xfrm>
        </p:grpSpPr>
        <p:sp>
          <p:nvSpPr>
            <p:cNvPr id="202" name="Google Shape;202;p3"/>
            <p:cNvSpPr/>
            <p:nvPr/>
          </p:nvSpPr>
          <p:spPr>
            <a:xfrm>
              <a:off x="0" y="0"/>
              <a:ext cx="21457920" cy="1341120"/>
            </a:xfrm>
            <a:custGeom>
              <a:avLst/>
              <a:gdLst/>
              <a:ahLst/>
              <a:cxnLst/>
              <a:rect l="l" t="t" r="r" b="b"/>
              <a:pathLst>
                <a:path w="21457920" h="1341120" extrusionOk="0">
                  <a:moveTo>
                    <a:pt x="0" y="0"/>
                  </a:moveTo>
                  <a:lnTo>
                    <a:pt x="21457920" y="0"/>
                  </a:lnTo>
                  <a:lnTo>
                    <a:pt x="2145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61760" b="-261760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Google Shape;203;p3"/>
            <p:cNvSpPr txBox="1"/>
            <p:nvPr/>
          </p:nvSpPr>
          <p:spPr>
            <a:xfrm>
              <a:off x="0" y="-47625"/>
              <a:ext cx="21457920" cy="1388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0" i="0" u="none" strike="noStrike" cap="non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When disaster strikes or the network goes down, first responders treat patients blind — with no access to their allergies, medications or DNR wishes. The result is preventable drug reactions and duplicated care as a patient is handed between responders, ambulances and field hospitals. Today's medical-ID apps live in the cloud or a locked phone, so they fail at the exact moment they are needed most.</a:t>
              </a:r>
              <a:endParaRPr/>
            </a:p>
          </p:txBody>
        </p:sp>
      </p:grpSp>
      <p:sp>
        <p:nvSpPr>
          <p:cNvPr id="204" name="Google Shape;204;p3"/>
          <p:cNvSpPr/>
          <p:nvPr/>
        </p:nvSpPr>
        <p:spPr>
          <a:xfrm>
            <a:off x="535943" y="4650743"/>
            <a:ext cx="5511831" cy="4597431"/>
          </a:xfrm>
          <a:custGeom>
            <a:avLst/>
            <a:gdLst/>
            <a:ahLst/>
            <a:cxnLst/>
            <a:rect l="l" t="t" r="r" b="b"/>
            <a:pathLst>
              <a:path w="7349109" h="6129909" extrusionOk="0">
                <a:moveTo>
                  <a:pt x="0" y="294259"/>
                </a:moveTo>
                <a:cubicBezTo>
                  <a:pt x="0" y="131699"/>
                  <a:pt x="131699" y="0"/>
                  <a:pt x="294259" y="0"/>
                </a:cubicBezTo>
                <a:lnTo>
                  <a:pt x="7054850" y="0"/>
                </a:lnTo>
                <a:cubicBezTo>
                  <a:pt x="7217410" y="0"/>
                  <a:pt x="7349109" y="131699"/>
                  <a:pt x="7349109" y="294259"/>
                </a:cubicBezTo>
                <a:lnTo>
                  <a:pt x="7349109" y="5835650"/>
                </a:lnTo>
                <a:cubicBezTo>
                  <a:pt x="7349109" y="5998210"/>
                  <a:pt x="7217410" y="6129909"/>
                  <a:pt x="7054850" y="6129909"/>
                </a:cubicBezTo>
                <a:lnTo>
                  <a:pt x="294259" y="6129909"/>
                </a:lnTo>
                <a:cubicBezTo>
                  <a:pt x="131699" y="6129909"/>
                  <a:pt x="0" y="5998083"/>
                  <a:pt x="0" y="5835650"/>
                </a:cubicBezTo>
                <a:close/>
              </a:path>
            </a:pathLst>
          </a:custGeom>
          <a:solidFill>
            <a:srgbClr val="FFFFFF"/>
          </a:solidFill>
          <a:ln w="25400" cap="sq" cmpd="sng">
            <a:solidFill>
              <a:srgbClr val="E2EAF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3"/>
          <p:cNvSpPr/>
          <p:nvPr/>
        </p:nvSpPr>
        <p:spPr>
          <a:xfrm>
            <a:off x="2364743" y="4961639"/>
            <a:ext cx="1671256" cy="1671256"/>
          </a:xfrm>
          <a:custGeom>
            <a:avLst/>
            <a:gdLst/>
            <a:ahLst/>
            <a:cxnLst/>
            <a:rect l="l" t="t" r="r" b="b"/>
            <a:pathLst>
              <a:path w="2228342" h="2228342" extrusionOk="0">
                <a:moveTo>
                  <a:pt x="0" y="1114171"/>
                </a:moveTo>
                <a:cubicBezTo>
                  <a:pt x="0" y="498856"/>
                  <a:pt x="498856" y="0"/>
                  <a:pt x="1114171" y="0"/>
                </a:cubicBezTo>
                <a:cubicBezTo>
                  <a:pt x="1729486" y="0"/>
                  <a:pt x="2228342" y="498856"/>
                  <a:pt x="2228342" y="1114171"/>
                </a:cubicBezTo>
                <a:cubicBezTo>
                  <a:pt x="2228342" y="1729486"/>
                  <a:pt x="1729486" y="2228342"/>
                  <a:pt x="1114171" y="2228342"/>
                </a:cubicBezTo>
                <a:cubicBezTo>
                  <a:pt x="498856" y="2228342"/>
                  <a:pt x="0" y="1729613"/>
                  <a:pt x="0" y="1114171"/>
                </a:cubicBezTo>
                <a:close/>
              </a:path>
            </a:pathLst>
          </a:custGeom>
          <a:solidFill>
            <a:srgbClr val="EBF4FB"/>
          </a:solidFill>
          <a:ln w="25400" cap="sq" cmpd="sng">
            <a:solidFill>
              <a:srgbClr val="C8E0F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6" name="Google Shape;206;p3"/>
          <p:cNvGrpSpPr/>
          <p:nvPr/>
        </p:nvGrpSpPr>
        <p:grpSpPr>
          <a:xfrm>
            <a:off x="2377440" y="4917186"/>
            <a:ext cx="1645920" cy="1703070"/>
            <a:chOff x="0" y="-76200"/>
            <a:chExt cx="2194560" cy="2270760"/>
          </a:xfrm>
        </p:grpSpPr>
        <p:sp>
          <p:nvSpPr>
            <p:cNvPr id="207" name="Google Shape;207;p3"/>
            <p:cNvSpPr/>
            <p:nvPr/>
          </p:nvSpPr>
          <p:spPr>
            <a:xfrm>
              <a:off x="0" y="0"/>
              <a:ext cx="2194560" cy="2194560"/>
            </a:xfrm>
            <a:custGeom>
              <a:avLst/>
              <a:gdLst/>
              <a:ahLst/>
              <a:cxnLst/>
              <a:rect l="l" t="t" r="r" b="b"/>
              <a:pathLst>
                <a:path w="2194560" h="2194560" extrusionOk="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78304" r="-78304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Google Shape;208;p3"/>
            <p:cNvSpPr txBox="1"/>
            <p:nvPr/>
          </p:nvSpPr>
          <p:spPr>
            <a:xfrm>
              <a:off x="0" y="-76200"/>
              <a:ext cx="2194560" cy="22707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📊</a:t>
              </a:r>
              <a:endParaRPr/>
            </a:p>
          </p:txBody>
        </p:sp>
      </p:grpSp>
      <p:grpSp>
        <p:nvGrpSpPr>
          <p:cNvPr id="209" name="Google Shape;209;p3"/>
          <p:cNvGrpSpPr/>
          <p:nvPr/>
        </p:nvGrpSpPr>
        <p:grpSpPr>
          <a:xfrm>
            <a:off x="731520" y="6760274"/>
            <a:ext cx="5120640" cy="737807"/>
            <a:chOff x="0" y="-57150"/>
            <a:chExt cx="6827520" cy="983742"/>
          </a:xfrm>
        </p:grpSpPr>
        <p:sp>
          <p:nvSpPr>
            <p:cNvPr id="210" name="Google Shape;210;p3"/>
            <p:cNvSpPr/>
            <p:nvPr/>
          </p:nvSpPr>
          <p:spPr>
            <a:xfrm>
              <a:off x="0" y="0"/>
              <a:ext cx="6827520" cy="926592"/>
            </a:xfrm>
            <a:custGeom>
              <a:avLst/>
              <a:gdLst/>
              <a:ahLst/>
              <a:cxnLst/>
              <a:rect l="l" t="t" r="r" b="b"/>
              <a:pathLst>
                <a:path w="6827520" h="926592" extrusionOk="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93571" b="-93571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Google Shape;211;p3"/>
            <p:cNvSpPr txBox="1"/>
            <p:nvPr/>
          </p:nvSpPr>
          <p:spPr>
            <a:xfrm>
              <a:off x="0" y="-57150"/>
              <a:ext cx="6827520" cy="983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 b="1" i="0" u="none" strike="noStrike" cap="non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Scale / Impact</a:t>
              </a:r>
              <a:endParaRPr/>
            </a:p>
          </p:txBody>
        </p:sp>
      </p:grpSp>
      <p:grpSp>
        <p:nvGrpSpPr>
          <p:cNvPr id="212" name="Google Shape;212;p3"/>
          <p:cNvGrpSpPr/>
          <p:nvPr/>
        </p:nvGrpSpPr>
        <p:grpSpPr>
          <a:xfrm>
            <a:off x="822960" y="7432929"/>
            <a:ext cx="4937760" cy="1674495"/>
            <a:chOff x="0" y="-38100"/>
            <a:chExt cx="6583680" cy="2232660"/>
          </a:xfrm>
        </p:grpSpPr>
        <p:sp>
          <p:nvSpPr>
            <p:cNvPr id="213" name="Google Shape;213;p3"/>
            <p:cNvSpPr/>
            <p:nvPr/>
          </p:nvSpPr>
          <p:spPr>
            <a:xfrm>
              <a:off x="0" y="0"/>
              <a:ext cx="6583680" cy="2194560"/>
            </a:xfrm>
            <a:custGeom>
              <a:avLst/>
              <a:gdLst/>
              <a:ahLst/>
              <a:cxnLst/>
              <a:rect l="l" t="t" r="r" b="b"/>
              <a:pathLst>
                <a:path w="6583680" h="2194560" extrusionOk="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8455" b="-8455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Google Shape;214;p3"/>
            <p:cNvSpPr txBox="1"/>
            <p:nvPr/>
          </p:nvSpPr>
          <p:spPr>
            <a:xfrm>
              <a:off x="0" y="-38100"/>
              <a:ext cx="6583680" cy="22326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≈1.3M people are harmed by medication errors every year, at an estimated $42B global cost (WHO). In emergencies, missing history is a leading — and avoidable — risk.</a:t>
              </a:r>
              <a:endParaRPr/>
            </a:p>
          </p:txBody>
        </p:sp>
      </p:grpSp>
      <p:sp>
        <p:nvSpPr>
          <p:cNvPr id="215" name="Google Shape;215;p3"/>
          <p:cNvSpPr/>
          <p:nvPr/>
        </p:nvSpPr>
        <p:spPr>
          <a:xfrm>
            <a:off x="6388103" y="4650743"/>
            <a:ext cx="5511831" cy="4597431"/>
          </a:xfrm>
          <a:custGeom>
            <a:avLst/>
            <a:gdLst/>
            <a:ahLst/>
            <a:cxnLst/>
            <a:rect l="l" t="t" r="r" b="b"/>
            <a:pathLst>
              <a:path w="7349109" h="6129909" extrusionOk="0">
                <a:moveTo>
                  <a:pt x="0" y="294259"/>
                </a:moveTo>
                <a:cubicBezTo>
                  <a:pt x="0" y="131699"/>
                  <a:pt x="131699" y="0"/>
                  <a:pt x="294259" y="0"/>
                </a:cubicBezTo>
                <a:lnTo>
                  <a:pt x="7054850" y="0"/>
                </a:lnTo>
                <a:cubicBezTo>
                  <a:pt x="7217410" y="0"/>
                  <a:pt x="7349109" y="131699"/>
                  <a:pt x="7349109" y="294259"/>
                </a:cubicBezTo>
                <a:lnTo>
                  <a:pt x="7349109" y="5835650"/>
                </a:lnTo>
                <a:cubicBezTo>
                  <a:pt x="7349109" y="5998210"/>
                  <a:pt x="7217410" y="6129909"/>
                  <a:pt x="7054850" y="6129909"/>
                </a:cubicBezTo>
                <a:lnTo>
                  <a:pt x="294259" y="6129909"/>
                </a:lnTo>
                <a:cubicBezTo>
                  <a:pt x="131699" y="6129909"/>
                  <a:pt x="0" y="5998083"/>
                  <a:pt x="0" y="5835650"/>
                </a:cubicBezTo>
                <a:close/>
              </a:path>
            </a:pathLst>
          </a:custGeom>
          <a:solidFill>
            <a:srgbClr val="FFFFFF"/>
          </a:solidFill>
          <a:ln w="25400" cap="sq" cmpd="sng">
            <a:solidFill>
              <a:srgbClr val="E2EAF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3"/>
          <p:cNvSpPr/>
          <p:nvPr/>
        </p:nvSpPr>
        <p:spPr>
          <a:xfrm>
            <a:off x="8216903" y="4961639"/>
            <a:ext cx="1671256" cy="1671256"/>
          </a:xfrm>
          <a:custGeom>
            <a:avLst/>
            <a:gdLst/>
            <a:ahLst/>
            <a:cxnLst/>
            <a:rect l="l" t="t" r="r" b="b"/>
            <a:pathLst>
              <a:path w="2228342" h="2228342" extrusionOk="0">
                <a:moveTo>
                  <a:pt x="0" y="1114171"/>
                </a:moveTo>
                <a:cubicBezTo>
                  <a:pt x="0" y="498856"/>
                  <a:pt x="498856" y="0"/>
                  <a:pt x="1114171" y="0"/>
                </a:cubicBezTo>
                <a:cubicBezTo>
                  <a:pt x="1729486" y="0"/>
                  <a:pt x="2228342" y="498856"/>
                  <a:pt x="2228342" y="1114171"/>
                </a:cubicBezTo>
                <a:cubicBezTo>
                  <a:pt x="2228342" y="1729486"/>
                  <a:pt x="1729486" y="2228342"/>
                  <a:pt x="1114171" y="2228342"/>
                </a:cubicBezTo>
                <a:cubicBezTo>
                  <a:pt x="498856" y="2228342"/>
                  <a:pt x="0" y="1729613"/>
                  <a:pt x="0" y="1114171"/>
                </a:cubicBezTo>
                <a:close/>
              </a:path>
            </a:pathLst>
          </a:custGeom>
          <a:solidFill>
            <a:srgbClr val="EBF4FB"/>
          </a:solidFill>
          <a:ln w="25400" cap="sq" cmpd="sng">
            <a:solidFill>
              <a:srgbClr val="C8E0F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7" name="Google Shape;217;p3"/>
          <p:cNvGrpSpPr/>
          <p:nvPr/>
        </p:nvGrpSpPr>
        <p:grpSpPr>
          <a:xfrm>
            <a:off x="8229600" y="4917186"/>
            <a:ext cx="1645920" cy="1703070"/>
            <a:chOff x="0" y="-76200"/>
            <a:chExt cx="2194560" cy="2270760"/>
          </a:xfrm>
        </p:grpSpPr>
        <p:sp>
          <p:nvSpPr>
            <p:cNvPr id="218" name="Google Shape;218;p3"/>
            <p:cNvSpPr/>
            <p:nvPr/>
          </p:nvSpPr>
          <p:spPr>
            <a:xfrm>
              <a:off x="0" y="0"/>
              <a:ext cx="2194560" cy="2194560"/>
            </a:xfrm>
            <a:custGeom>
              <a:avLst/>
              <a:gdLst/>
              <a:ahLst/>
              <a:cxnLst/>
              <a:rect l="l" t="t" r="r" b="b"/>
              <a:pathLst>
                <a:path w="2194560" h="2194560" extrusionOk="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78304" r="-78304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Google Shape;219;p3"/>
            <p:cNvSpPr txBox="1"/>
            <p:nvPr/>
          </p:nvSpPr>
          <p:spPr>
            <a:xfrm>
              <a:off x="0" y="-76200"/>
              <a:ext cx="2194560" cy="22707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👥</a:t>
              </a:r>
              <a:endParaRPr/>
            </a:p>
          </p:txBody>
        </p:sp>
      </p:grpSp>
      <p:grpSp>
        <p:nvGrpSpPr>
          <p:cNvPr id="220" name="Google Shape;220;p3"/>
          <p:cNvGrpSpPr/>
          <p:nvPr/>
        </p:nvGrpSpPr>
        <p:grpSpPr>
          <a:xfrm>
            <a:off x="6583680" y="6760274"/>
            <a:ext cx="5120640" cy="737807"/>
            <a:chOff x="0" y="-57150"/>
            <a:chExt cx="6827520" cy="983742"/>
          </a:xfrm>
        </p:grpSpPr>
        <p:sp>
          <p:nvSpPr>
            <p:cNvPr id="221" name="Google Shape;221;p3"/>
            <p:cNvSpPr/>
            <p:nvPr/>
          </p:nvSpPr>
          <p:spPr>
            <a:xfrm>
              <a:off x="0" y="0"/>
              <a:ext cx="6827520" cy="926592"/>
            </a:xfrm>
            <a:custGeom>
              <a:avLst/>
              <a:gdLst/>
              <a:ahLst/>
              <a:cxnLst/>
              <a:rect l="l" t="t" r="r" b="b"/>
              <a:pathLst>
                <a:path w="6827520" h="926592" extrusionOk="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93571" b="-93571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Google Shape;222;p3"/>
            <p:cNvSpPr txBox="1"/>
            <p:nvPr/>
          </p:nvSpPr>
          <p:spPr>
            <a:xfrm>
              <a:off x="0" y="-57150"/>
              <a:ext cx="6827520" cy="983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 b="1" i="0" u="none" strike="noStrike" cap="non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Who is Affected</a:t>
              </a:r>
              <a:endParaRPr/>
            </a:p>
          </p:txBody>
        </p:sp>
      </p:grpSp>
      <p:grpSp>
        <p:nvGrpSpPr>
          <p:cNvPr id="223" name="Google Shape;223;p3"/>
          <p:cNvGrpSpPr/>
          <p:nvPr/>
        </p:nvGrpSpPr>
        <p:grpSpPr>
          <a:xfrm>
            <a:off x="6675120" y="7432929"/>
            <a:ext cx="4937760" cy="1674495"/>
            <a:chOff x="0" y="-38100"/>
            <a:chExt cx="6583680" cy="2232660"/>
          </a:xfrm>
        </p:grpSpPr>
        <p:sp>
          <p:nvSpPr>
            <p:cNvPr id="224" name="Google Shape;224;p3"/>
            <p:cNvSpPr/>
            <p:nvPr/>
          </p:nvSpPr>
          <p:spPr>
            <a:xfrm>
              <a:off x="0" y="0"/>
              <a:ext cx="6583680" cy="2194560"/>
            </a:xfrm>
            <a:custGeom>
              <a:avLst/>
              <a:gdLst/>
              <a:ahLst/>
              <a:cxnLst/>
              <a:rect l="l" t="t" r="r" b="b"/>
              <a:pathLst>
                <a:path w="6583680" h="2194560" extrusionOk="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8455" b="-8455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Google Shape;225;p3"/>
            <p:cNvSpPr txBox="1"/>
            <p:nvPr/>
          </p:nvSpPr>
          <p:spPr>
            <a:xfrm>
              <a:off x="0" y="-38100"/>
              <a:ext cx="6583680" cy="22326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Unconscious or non-verbal emergency patients, people with allergies or chronic conditions, the elderly — and the paramedics forced to treat them with no record at all.</a:t>
              </a:r>
              <a:endParaRPr/>
            </a:p>
          </p:txBody>
        </p:sp>
      </p:grpSp>
      <p:sp>
        <p:nvSpPr>
          <p:cNvPr id="226" name="Google Shape;226;p3"/>
          <p:cNvSpPr/>
          <p:nvPr/>
        </p:nvSpPr>
        <p:spPr>
          <a:xfrm>
            <a:off x="12240263" y="4650743"/>
            <a:ext cx="5511831" cy="4597431"/>
          </a:xfrm>
          <a:custGeom>
            <a:avLst/>
            <a:gdLst/>
            <a:ahLst/>
            <a:cxnLst/>
            <a:rect l="l" t="t" r="r" b="b"/>
            <a:pathLst>
              <a:path w="7349109" h="6129909" extrusionOk="0">
                <a:moveTo>
                  <a:pt x="0" y="294259"/>
                </a:moveTo>
                <a:cubicBezTo>
                  <a:pt x="0" y="131699"/>
                  <a:pt x="131699" y="0"/>
                  <a:pt x="294259" y="0"/>
                </a:cubicBezTo>
                <a:lnTo>
                  <a:pt x="7054850" y="0"/>
                </a:lnTo>
                <a:cubicBezTo>
                  <a:pt x="7217410" y="0"/>
                  <a:pt x="7349109" y="131699"/>
                  <a:pt x="7349109" y="294259"/>
                </a:cubicBezTo>
                <a:lnTo>
                  <a:pt x="7349109" y="5835650"/>
                </a:lnTo>
                <a:cubicBezTo>
                  <a:pt x="7349109" y="5998210"/>
                  <a:pt x="7217410" y="6129909"/>
                  <a:pt x="7054850" y="6129909"/>
                </a:cubicBezTo>
                <a:lnTo>
                  <a:pt x="294259" y="6129909"/>
                </a:lnTo>
                <a:cubicBezTo>
                  <a:pt x="131699" y="6129909"/>
                  <a:pt x="0" y="5998083"/>
                  <a:pt x="0" y="5835650"/>
                </a:cubicBezTo>
                <a:close/>
              </a:path>
            </a:pathLst>
          </a:custGeom>
          <a:solidFill>
            <a:srgbClr val="FFFFFF"/>
          </a:solidFill>
          <a:ln w="25400" cap="sq" cmpd="sng">
            <a:solidFill>
              <a:srgbClr val="E2EAF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3"/>
          <p:cNvSpPr/>
          <p:nvPr/>
        </p:nvSpPr>
        <p:spPr>
          <a:xfrm>
            <a:off x="14069063" y="4961639"/>
            <a:ext cx="1671256" cy="1671256"/>
          </a:xfrm>
          <a:custGeom>
            <a:avLst/>
            <a:gdLst/>
            <a:ahLst/>
            <a:cxnLst/>
            <a:rect l="l" t="t" r="r" b="b"/>
            <a:pathLst>
              <a:path w="2228342" h="2228342" extrusionOk="0">
                <a:moveTo>
                  <a:pt x="0" y="1114171"/>
                </a:moveTo>
                <a:cubicBezTo>
                  <a:pt x="0" y="498856"/>
                  <a:pt x="498856" y="0"/>
                  <a:pt x="1114171" y="0"/>
                </a:cubicBezTo>
                <a:cubicBezTo>
                  <a:pt x="1729486" y="0"/>
                  <a:pt x="2228342" y="498856"/>
                  <a:pt x="2228342" y="1114171"/>
                </a:cubicBezTo>
                <a:cubicBezTo>
                  <a:pt x="2228342" y="1729486"/>
                  <a:pt x="1729486" y="2228342"/>
                  <a:pt x="1114171" y="2228342"/>
                </a:cubicBezTo>
                <a:cubicBezTo>
                  <a:pt x="498856" y="2228342"/>
                  <a:pt x="0" y="1729613"/>
                  <a:pt x="0" y="1114171"/>
                </a:cubicBezTo>
                <a:close/>
              </a:path>
            </a:pathLst>
          </a:custGeom>
          <a:solidFill>
            <a:srgbClr val="EBF4FB"/>
          </a:solidFill>
          <a:ln w="25400" cap="sq" cmpd="sng">
            <a:solidFill>
              <a:srgbClr val="C8E0F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8" name="Google Shape;228;p3"/>
          <p:cNvGrpSpPr/>
          <p:nvPr/>
        </p:nvGrpSpPr>
        <p:grpSpPr>
          <a:xfrm>
            <a:off x="14081760" y="4917186"/>
            <a:ext cx="1645920" cy="1703070"/>
            <a:chOff x="0" y="-76200"/>
            <a:chExt cx="2194560" cy="2270760"/>
          </a:xfrm>
        </p:grpSpPr>
        <p:sp>
          <p:nvSpPr>
            <p:cNvPr id="229" name="Google Shape;229;p3"/>
            <p:cNvSpPr/>
            <p:nvPr/>
          </p:nvSpPr>
          <p:spPr>
            <a:xfrm>
              <a:off x="0" y="0"/>
              <a:ext cx="2194560" cy="2194560"/>
            </a:xfrm>
            <a:custGeom>
              <a:avLst/>
              <a:gdLst/>
              <a:ahLst/>
              <a:cxnLst/>
              <a:rect l="l" t="t" r="r" b="b"/>
              <a:pathLst>
                <a:path w="2194560" h="2194560" extrusionOk="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78304" r="-78304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Google Shape;230;p3"/>
            <p:cNvSpPr txBox="1"/>
            <p:nvPr/>
          </p:nvSpPr>
          <p:spPr>
            <a:xfrm>
              <a:off x="0" y="-76200"/>
              <a:ext cx="2194560" cy="22707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⚠</a:t>
              </a:r>
              <a:endParaRPr/>
            </a:p>
          </p:txBody>
        </p:sp>
      </p:grpSp>
      <p:grpSp>
        <p:nvGrpSpPr>
          <p:cNvPr id="231" name="Google Shape;231;p3"/>
          <p:cNvGrpSpPr/>
          <p:nvPr/>
        </p:nvGrpSpPr>
        <p:grpSpPr>
          <a:xfrm>
            <a:off x="12435840" y="6760274"/>
            <a:ext cx="5120640" cy="737807"/>
            <a:chOff x="0" y="-57150"/>
            <a:chExt cx="6827520" cy="983742"/>
          </a:xfrm>
        </p:grpSpPr>
        <p:sp>
          <p:nvSpPr>
            <p:cNvPr id="232" name="Google Shape;232;p3"/>
            <p:cNvSpPr/>
            <p:nvPr/>
          </p:nvSpPr>
          <p:spPr>
            <a:xfrm>
              <a:off x="0" y="0"/>
              <a:ext cx="6827520" cy="926592"/>
            </a:xfrm>
            <a:custGeom>
              <a:avLst/>
              <a:gdLst/>
              <a:ahLst/>
              <a:cxnLst/>
              <a:rect l="l" t="t" r="r" b="b"/>
              <a:pathLst>
                <a:path w="6827520" h="926592" extrusionOk="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93571" b="-93571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Google Shape;233;p3"/>
            <p:cNvSpPr txBox="1"/>
            <p:nvPr/>
          </p:nvSpPr>
          <p:spPr>
            <a:xfrm>
              <a:off x="0" y="-57150"/>
              <a:ext cx="6827520" cy="983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 b="1" i="0" u="none" strike="noStrike" cap="non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Why Unsolved</a:t>
              </a:r>
              <a:endParaRPr/>
            </a:p>
          </p:txBody>
        </p:sp>
      </p:grpSp>
      <p:grpSp>
        <p:nvGrpSpPr>
          <p:cNvPr id="234" name="Google Shape;234;p3"/>
          <p:cNvGrpSpPr/>
          <p:nvPr/>
        </p:nvGrpSpPr>
        <p:grpSpPr>
          <a:xfrm>
            <a:off x="12527280" y="7432929"/>
            <a:ext cx="4937760" cy="1674495"/>
            <a:chOff x="0" y="-38100"/>
            <a:chExt cx="6583680" cy="2232660"/>
          </a:xfrm>
        </p:grpSpPr>
        <p:sp>
          <p:nvSpPr>
            <p:cNvPr id="235" name="Google Shape;235;p3"/>
            <p:cNvSpPr/>
            <p:nvPr/>
          </p:nvSpPr>
          <p:spPr>
            <a:xfrm>
              <a:off x="0" y="0"/>
              <a:ext cx="6583680" cy="2194560"/>
            </a:xfrm>
            <a:custGeom>
              <a:avLst/>
              <a:gdLst/>
              <a:ahLst/>
              <a:cxnLst/>
              <a:rect l="l" t="t" r="r" b="b"/>
              <a:pathLst>
                <a:path w="6583680" h="2194560" extrusionOk="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8455" b="-8455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Google Shape;236;p3"/>
            <p:cNvSpPr txBox="1"/>
            <p:nvPr/>
          </p:nvSpPr>
          <p:spPr>
            <a:xfrm>
              <a:off x="0" y="-38100"/>
              <a:ext cx="6583680" cy="22326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Cloud apps need a network disasters take down. Phone Medical IDs need a charged, unlocked device. Engraved bracelets hold two static lines — no updates, no treatment log.</a:t>
              </a:r>
              <a:endParaRPr/>
            </a:p>
          </p:txBody>
        </p:sp>
      </p:grpSp>
      <p:sp>
        <p:nvSpPr>
          <p:cNvPr id="237" name="Google Shape;237;p3"/>
          <p:cNvSpPr/>
          <p:nvPr/>
        </p:nvSpPr>
        <p:spPr>
          <a:xfrm>
            <a:off x="15798500" y="238800"/>
            <a:ext cx="2143125" cy="1475499"/>
          </a:xfrm>
          <a:custGeom>
            <a:avLst/>
            <a:gdLst/>
            <a:ahLst/>
            <a:cxnLst/>
            <a:rect l="l" t="t" r="r" b="b"/>
            <a:pathLst>
              <a:path w="2143125" h="1475499" extrusionOk="0">
                <a:moveTo>
                  <a:pt x="0" y="0"/>
                </a:moveTo>
                <a:lnTo>
                  <a:pt x="2143125" y="0"/>
                </a:lnTo>
                <a:lnTo>
                  <a:pt x="2143125" y="1475499"/>
                </a:lnTo>
                <a:lnTo>
                  <a:pt x="0" y="14754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700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p4"/>
          <p:cNvGrpSpPr/>
          <p:nvPr/>
        </p:nvGrpSpPr>
        <p:grpSpPr>
          <a:xfrm>
            <a:off x="640080" y="9609201"/>
            <a:ext cx="4572000" cy="485775"/>
            <a:chOff x="0" y="-38100"/>
            <a:chExt cx="6096000" cy="647700"/>
          </a:xfrm>
        </p:grpSpPr>
        <p:sp>
          <p:nvSpPr>
            <p:cNvPr id="243" name="Google Shape;243;p4"/>
            <p:cNvSpPr/>
            <p:nvPr/>
          </p:nvSpPr>
          <p:spPr>
            <a:xfrm>
              <a:off x="0" y="0"/>
              <a:ext cx="6096000" cy="609600"/>
            </a:xfrm>
            <a:custGeom>
              <a:avLst/>
              <a:gdLst/>
              <a:ahLst/>
              <a:cxnLst/>
              <a:rect l="l" t="t" r="r" b="b"/>
              <a:pathLst>
                <a:path w="6096000" h="609600" extrusionOk="0">
                  <a:moveTo>
                    <a:pt x="0" y="0"/>
                  </a:moveTo>
                  <a:lnTo>
                    <a:pt x="6096000" y="0"/>
                  </a:lnTo>
                  <a:lnTo>
                    <a:pt x="609600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44856" b="-144856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Google Shape;244;p4"/>
            <p:cNvSpPr txBox="1"/>
            <p:nvPr/>
          </p:nvSpPr>
          <p:spPr>
            <a:xfrm>
              <a:off x="0" y="-38100"/>
              <a:ext cx="60960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u="none" strike="noStrike" cap="non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© CODEAMBLE 2026</a:t>
              </a:r>
              <a:endParaRPr/>
            </a:p>
          </p:txBody>
        </p:sp>
      </p:grpSp>
      <p:grpSp>
        <p:nvGrpSpPr>
          <p:cNvPr id="245" name="Google Shape;245;p4"/>
          <p:cNvGrpSpPr/>
          <p:nvPr/>
        </p:nvGrpSpPr>
        <p:grpSpPr>
          <a:xfrm>
            <a:off x="6400800" y="9609201"/>
            <a:ext cx="5852160" cy="485775"/>
            <a:chOff x="0" y="-38100"/>
            <a:chExt cx="7802880" cy="647700"/>
          </a:xfrm>
        </p:grpSpPr>
        <p:sp>
          <p:nvSpPr>
            <p:cNvPr id="246" name="Google Shape;246;p4"/>
            <p:cNvSpPr/>
            <p:nvPr/>
          </p:nvSpPr>
          <p:spPr>
            <a:xfrm>
              <a:off x="0" y="0"/>
              <a:ext cx="7802880" cy="609600"/>
            </a:xfrm>
            <a:custGeom>
              <a:avLst/>
              <a:gdLst/>
              <a:ahLst/>
              <a:cxnLst/>
              <a:rect l="l" t="t" r="r" b="b"/>
              <a:pathLst>
                <a:path w="7802880" h="609600" extrusionOk="0">
                  <a:moveTo>
                    <a:pt x="0" y="0"/>
                  </a:moveTo>
                  <a:lnTo>
                    <a:pt x="7802880" y="0"/>
                  </a:lnTo>
                  <a:lnTo>
                    <a:pt x="780288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99401" b="-199401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Google Shape;247;p4"/>
            <p:cNvSpPr txBox="1"/>
            <p:nvPr/>
          </p:nvSpPr>
          <p:spPr>
            <a:xfrm>
              <a:off x="0" y="-38100"/>
              <a:ext cx="7802880" cy="64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u="none" strike="noStrike" cap="non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ZEN Club – </a:t>
              </a:r>
              <a:r>
                <a:rPr lang="en-US" sz="1700" b="1" i="0" u="none" strike="noStrike" cap="non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Zone of Engineering Innovators</a:t>
              </a:r>
              <a:endParaRPr/>
            </a:p>
          </p:txBody>
        </p:sp>
      </p:grpSp>
      <p:grpSp>
        <p:nvGrpSpPr>
          <p:cNvPr id="248" name="Google Shape;248;p4"/>
          <p:cNvGrpSpPr/>
          <p:nvPr/>
        </p:nvGrpSpPr>
        <p:grpSpPr>
          <a:xfrm>
            <a:off x="12984480" y="9609201"/>
            <a:ext cx="5120640" cy="485775"/>
            <a:chOff x="0" y="-38100"/>
            <a:chExt cx="6827520" cy="647700"/>
          </a:xfrm>
        </p:grpSpPr>
        <p:sp>
          <p:nvSpPr>
            <p:cNvPr id="249" name="Google Shape;249;p4"/>
            <p:cNvSpPr/>
            <p:nvPr/>
          </p:nvSpPr>
          <p:spPr>
            <a:xfrm>
              <a:off x="0" y="0"/>
              <a:ext cx="6827520" cy="609600"/>
            </a:xfrm>
            <a:custGeom>
              <a:avLst/>
              <a:gdLst/>
              <a:ahLst/>
              <a:cxnLst/>
              <a:rect l="l" t="t" r="r" b="b"/>
              <a:pathLst>
                <a:path w="6827520" h="609600" extrusionOk="0">
                  <a:moveTo>
                    <a:pt x="0" y="0"/>
                  </a:moveTo>
                  <a:lnTo>
                    <a:pt x="6827520" y="0"/>
                  </a:lnTo>
                  <a:lnTo>
                    <a:pt x="682752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68226" b="-168226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Google Shape;250;p4"/>
            <p:cNvSpPr txBox="1"/>
            <p:nvPr/>
          </p:nvSpPr>
          <p:spPr>
            <a:xfrm>
              <a:off x="0" y="-38100"/>
              <a:ext cx="6827520" cy="64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u="none" strike="noStrike" cap="non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contact@zoneofengineeringinnovators.com</a:t>
              </a:r>
              <a:endParaRPr/>
            </a:p>
          </p:txBody>
        </p:sp>
      </p:grpSp>
      <p:grpSp>
        <p:nvGrpSpPr>
          <p:cNvPr id="251" name="Google Shape;251;p4"/>
          <p:cNvGrpSpPr/>
          <p:nvPr/>
        </p:nvGrpSpPr>
        <p:grpSpPr>
          <a:xfrm>
            <a:off x="548640" y="215741"/>
            <a:ext cx="2011680" cy="1521619"/>
            <a:chOff x="0" y="-200025"/>
            <a:chExt cx="2682240" cy="2028825"/>
          </a:xfrm>
        </p:grpSpPr>
        <p:sp>
          <p:nvSpPr>
            <p:cNvPr id="252" name="Google Shape;252;p4"/>
            <p:cNvSpPr/>
            <p:nvPr/>
          </p:nvSpPr>
          <p:spPr>
            <a:xfrm>
              <a:off x="0" y="0"/>
              <a:ext cx="2682240" cy="1828800"/>
            </a:xfrm>
            <a:custGeom>
              <a:avLst/>
              <a:gdLst/>
              <a:ahLst/>
              <a:cxnLst/>
              <a:rect l="l" t="t" r="r" b="b"/>
              <a:pathLst>
                <a:path w="2682240" h="1828800" extrusionOk="0">
                  <a:moveTo>
                    <a:pt x="0" y="0"/>
                  </a:moveTo>
                  <a:lnTo>
                    <a:pt x="2682240" y="0"/>
                  </a:lnTo>
                  <a:lnTo>
                    <a:pt x="2682240" y="1828800"/>
                  </a:lnTo>
                  <a:lnTo>
                    <a:pt x="0" y="1828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37480" r="-37480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Google Shape;253;p4"/>
            <p:cNvSpPr txBox="1"/>
            <p:nvPr/>
          </p:nvSpPr>
          <p:spPr>
            <a:xfrm>
              <a:off x="0" y="-200025"/>
              <a:ext cx="2682240" cy="2028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99" b="1" i="0" u="none" strike="noStrike" cap="none">
                  <a:solidFill>
                    <a:srgbClr val="D0DFF0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/>
            </a:p>
          </p:txBody>
        </p:sp>
      </p:grpSp>
      <p:grpSp>
        <p:nvGrpSpPr>
          <p:cNvPr id="254" name="Google Shape;254;p4"/>
          <p:cNvGrpSpPr/>
          <p:nvPr/>
        </p:nvGrpSpPr>
        <p:grpSpPr>
          <a:xfrm>
            <a:off x="2377440" y="433483"/>
            <a:ext cx="12801600" cy="992981"/>
            <a:chOff x="0" y="-104775"/>
            <a:chExt cx="17068800" cy="1323975"/>
          </a:xfrm>
        </p:grpSpPr>
        <p:sp>
          <p:nvSpPr>
            <p:cNvPr id="255" name="Google Shape;255;p4"/>
            <p:cNvSpPr/>
            <p:nvPr/>
          </p:nvSpPr>
          <p:spPr>
            <a:xfrm>
              <a:off x="0" y="0"/>
              <a:ext cx="17068800" cy="1219200"/>
            </a:xfrm>
            <a:custGeom>
              <a:avLst/>
              <a:gdLst/>
              <a:ahLst/>
              <a:cxnLst/>
              <a:rect l="l" t="t" r="r" b="b"/>
              <a:pathLst>
                <a:path w="17068800" h="1219200" extrusionOk="0">
                  <a:moveTo>
                    <a:pt x="0" y="0"/>
                  </a:moveTo>
                  <a:lnTo>
                    <a:pt x="17068800" y="0"/>
                  </a:lnTo>
                  <a:lnTo>
                    <a:pt x="1706880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22777" b="-222777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Google Shape;256;p4"/>
            <p:cNvSpPr txBox="1"/>
            <p:nvPr/>
          </p:nvSpPr>
          <p:spPr>
            <a:xfrm>
              <a:off x="0" y="-104775"/>
              <a:ext cx="17068800" cy="1323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200" b="1" i="0" u="none" strike="noStrike" cap="non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Proposed Solution</a:t>
              </a:r>
              <a:endParaRPr/>
            </a:p>
          </p:txBody>
        </p:sp>
      </p:grpSp>
      <p:grpSp>
        <p:nvGrpSpPr>
          <p:cNvPr id="257" name="Google Shape;257;p4"/>
          <p:cNvGrpSpPr/>
          <p:nvPr/>
        </p:nvGrpSpPr>
        <p:grpSpPr>
          <a:xfrm>
            <a:off x="2377440" y="1288161"/>
            <a:ext cx="12801600" cy="540639"/>
            <a:chOff x="0" y="-38100"/>
            <a:chExt cx="17068800" cy="720852"/>
          </a:xfrm>
        </p:grpSpPr>
        <p:sp>
          <p:nvSpPr>
            <p:cNvPr id="258" name="Google Shape;258;p4"/>
            <p:cNvSpPr/>
            <p:nvPr/>
          </p:nvSpPr>
          <p:spPr>
            <a:xfrm>
              <a:off x="0" y="0"/>
              <a:ext cx="17068800" cy="682752"/>
            </a:xfrm>
            <a:custGeom>
              <a:avLst/>
              <a:gdLst/>
              <a:ahLst/>
              <a:cxnLst/>
              <a:rect l="l" t="t" r="r" b="b"/>
              <a:pathLst>
                <a:path w="17068800" h="682752" extrusionOk="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37140" b="-437140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Google Shape;259;p4"/>
            <p:cNvSpPr txBox="1"/>
            <p:nvPr/>
          </p:nvSpPr>
          <p:spPr>
            <a:xfrm>
              <a:off x="0" y="-38100"/>
              <a:ext cx="17068800" cy="7208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What are you building and how does it work?</a:t>
              </a:r>
              <a:endParaRPr/>
            </a:p>
          </p:txBody>
        </p:sp>
      </p:grpSp>
      <p:sp>
        <p:nvSpPr>
          <p:cNvPr id="260" name="Google Shape;260;p4"/>
          <p:cNvSpPr/>
          <p:nvPr/>
        </p:nvSpPr>
        <p:spPr>
          <a:xfrm>
            <a:off x="535943" y="1998983"/>
            <a:ext cx="17216151" cy="2128551"/>
          </a:xfrm>
          <a:custGeom>
            <a:avLst/>
            <a:gdLst/>
            <a:ahLst/>
            <a:cxnLst/>
            <a:rect l="l" t="t" r="r" b="b"/>
            <a:pathLst>
              <a:path w="22954869" h="2838069" extrusionOk="0">
                <a:moveTo>
                  <a:pt x="0" y="296164"/>
                </a:moveTo>
                <a:cubicBezTo>
                  <a:pt x="0" y="132588"/>
                  <a:pt x="132588" y="0"/>
                  <a:pt x="296164" y="0"/>
                </a:cubicBezTo>
                <a:lnTo>
                  <a:pt x="22658705" y="0"/>
                </a:lnTo>
                <a:cubicBezTo>
                  <a:pt x="22822281" y="0"/>
                  <a:pt x="22954869" y="132588"/>
                  <a:pt x="22954869" y="296164"/>
                </a:cubicBezTo>
                <a:lnTo>
                  <a:pt x="22954869" y="2541905"/>
                </a:lnTo>
                <a:cubicBezTo>
                  <a:pt x="22954869" y="2705481"/>
                  <a:pt x="22822281" y="2838069"/>
                  <a:pt x="22658705" y="2838069"/>
                </a:cubicBezTo>
                <a:lnTo>
                  <a:pt x="296164" y="2838069"/>
                </a:lnTo>
                <a:cubicBezTo>
                  <a:pt x="132588" y="2838069"/>
                  <a:pt x="0" y="2705481"/>
                  <a:pt x="0" y="2541905"/>
                </a:cubicBezTo>
                <a:close/>
              </a:path>
            </a:pathLst>
          </a:custGeom>
          <a:solidFill>
            <a:srgbClr val="FFFFFF"/>
          </a:solidFill>
          <a:ln w="25400" cap="sq" cmpd="sng">
            <a:solidFill>
              <a:srgbClr val="E2EAF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1" name="Google Shape;261;p4"/>
          <p:cNvGrpSpPr/>
          <p:nvPr/>
        </p:nvGrpSpPr>
        <p:grpSpPr>
          <a:xfrm>
            <a:off x="1005840" y="2158841"/>
            <a:ext cx="16093440" cy="675799"/>
            <a:chOff x="0" y="-47625"/>
            <a:chExt cx="21457920" cy="901065"/>
          </a:xfrm>
        </p:grpSpPr>
        <p:sp>
          <p:nvSpPr>
            <p:cNvPr id="262" name="Google Shape;262;p4"/>
            <p:cNvSpPr/>
            <p:nvPr/>
          </p:nvSpPr>
          <p:spPr>
            <a:xfrm>
              <a:off x="0" y="0"/>
              <a:ext cx="21457920" cy="853440"/>
            </a:xfrm>
            <a:custGeom>
              <a:avLst/>
              <a:gdLst/>
              <a:ahLst/>
              <a:cxnLst/>
              <a:rect l="l" t="t" r="r" b="b"/>
              <a:pathLst>
                <a:path w="21457920" h="853440" extrusionOk="0">
                  <a:moveTo>
                    <a:pt x="0" y="0"/>
                  </a:moveTo>
                  <a:lnTo>
                    <a:pt x="21457920" y="0"/>
                  </a:lnTo>
                  <a:lnTo>
                    <a:pt x="2145792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39908" b="-439908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Google Shape;263;p4"/>
            <p:cNvSpPr txBox="1"/>
            <p:nvPr/>
          </p:nvSpPr>
          <p:spPr>
            <a:xfrm>
              <a:off x="0" y="-47625"/>
              <a:ext cx="21457920" cy="9010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 b="1" i="0" u="none" strike="noStrike" cap="non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💡  Our Solution</a:t>
              </a:r>
              <a:endParaRPr/>
            </a:p>
          </p:txBody>
        </p:sp>
      </p:grpSp>
      <p:grpSp>
        <p:nvGrpSpPr>
          <p:cNvPr id="264" name="Google Shape;264;p4"/>
          <p:cNvGrpSpPr/>
          <p:nvPr/>
        </p:nvGrpSpPr>
        <p:grpSpPr>
          <a:xfrm>
            <a:off x="1005840" y="2798921"/>
            <a:ext cx="16093440" cy="1041559"/>
            <a:chOff x="0" y="-47625"/>
            <a:chExt cx="21457920" cy="1388745"/>
          </a:xfrm>
        </p:grpSpPr>
        <p:sp>
          <p:nvSpPr>
            <p:cNvPr id="265" name="Google Shape;265;p4"/>
            <p:cNvSpPr/>
            <p:nvPr/>
          </p:nvSpPr>
          <p:spPr>
            <a:xfrm>
              <a:off x="0" y="0"/>
              <a:ext cx="21457920" cy="1341120"/>
            </a:xfrm>
            <a:custGeom>
              <a:avLst/>
              <a:gdLst/>
              <a:ahLst/>
              <a:cxnLst/>
              <a:rect l="l" t="t" r="r" b="b"/>
              <a:pathLst>
                <a:path w="21457920" h="1341120" extrusionOk="0">
                  <a:moveTo>
                    <a:pt x="0" y="0"/>
                  </a:moveTo>
                  <a:lnTo>
                    <a:pt x="21457920" y="0"/>
                  </a:lnTo>
                  <a:lnTo>
                    <a:pt x="2145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61760" b="-261760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Google Shape;266;p4"/>
            <p:cNvSpPr txBox="1"/>
            <p:nvPr/>
          </p:nvSpPr>
          <p:spPr>
            <a:xfrm>
              <a:off x="0" y="-47625"/>
              <a:ext cx="21457920" cy="1388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0" i="0" u="none" strike="noStrike" cap="non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Patient-Tap stores the patient's full medical record — encrypted with AES-256-GCM — directly on the NFC chip they wear (an NTAG215 card or wristband, ≤504 bytes). Any phone reads or writes it in under a second with zero network, and responders log the treatment they give straight back onto the tag.</a:t>
              </a:r>
              <a:endParaRPr/>
            </a:p>
          </p:txBody>
        </p:sp>
      </p:grpSp>
      <p:sp>
        <p:nvSpPr>
          <p:cNvPr id="267" name="Google Shape;267;p4"/>
          <p:cNvSpPr/>
          <p:nvPr/>
        </p:nvSpPr>
        <p:spPr>
          <a:xfrm>
            <a:off x="535943" y="4650743"/>
            <a:ext cx="5511831" cy="4597431"/>
          </a:xfrm>
          <a:custGeom>
            <a:avLst/>
            <a:gdLst/>
            <a:ahLst/>
            <a:cxnLst/>
            <a:rect l="l" t="t" r="r" b="b"/>
            <a:pathLst>
              <a:path w="7349109" h="6129909" extrusionOk="0">
                <a:moveTo>
                  <a:pt x="0" y="294259"/>
                </a:moveTo>
                <a:cubicBezTo>
                  <a:pt x="0" y="131699"/>
                  <a:pt x="131699" y="0"/>
                  <a:pt x="294259" y="0"/>
                </a:cubicBezTo>
                <a:lnTo>
                  <a:pt x="7054850" y="0"/>
                </a:lnTo>
                <a:cubicBezTo>
                  <a:pt x="7217410" y="0"/>
                  <a:pt x="7349109" y="131699"/>
                  <a:pt x="7349109" y="294259"/>
                </a:cubicBezTo>
                <a:lnTo>
                  <a:pt x="7349109" y="5835650"/>
                </a:lnTo>
                <a:cubicBezTo>
                  <a:pt x="7349109" y="5998210"/>
                  <a:pt x="7217410" y="6129909"/>
                  <a:pt x="7054850" y="6129909"/>
                </a:cubicBezTo>
                <a:lnTo>
                  <a:pt x="294259" y="6129909"/>
                </a:lnTo>
                <a:cubicBezTo>
                  <a:pt x="131699" y="6129909"/>
                  <a:pt x="0" y="5998083"/>
                  <a:pt x="0" y="5835650"/>
                </a:cubicBezTo>
                <a:close/>
              </a:path>
            </a:pathLst>
          </a:custGeom>
          <a:solidFill>
            <a:srgbClr val="FFFFFF"/>
          </a:solidFill>
          <a:ln w="25400" cap="sq" cmpd="sng">
            <a:solidFill>
              <a:srgbClr val="E2EAF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4"/>
          <p:cNvSpPr/>
          <p:nvPr/>
        </p:nvSpPr>
        <p:spPr>
          <a:xfrm>
            <a:off x="2364743" y="4961639"/>
            <a:ext cx="1671256" cy="1671256"/>
          </a:xfrm>
          <a:custGeom>
            <a:avLst/>
            <a:gdLst/>
            <a:ahLst/>
            <a:cxnLst/>
            <a:rect l="l" t="t" r="r" b="b"/>
            <a:pathLst>
              <a:path w="2228342" h="2228342" extrusionOk="0">
                <a:moveTo>
                  <a:pt x="0" y="1114171"/>
                </a:moveTo>
                <a:cubicBezTo>
                  <a:pt x="0" y="498856"/>
                  <a:pt x="498856" y="0"/>
                  <a:pt x="1114171" y="0"/>
                </a:cubicBezTo>
                <a:cubicBezTo>
                  <a:pt x="1729486" y="0"/>
                  <a:pt x="2228342" y="498856"/>
                  <a:pt x="2228342" y="1114171"/>
                </a:cubicBezTo>
                <a:cubicBezTo>
                  <a:pt x="2228342" y="1729486"/>
                  <a:pt x="1729486" y="2228342"/>
                  <a:pt x="1114171" y="2228342"/>
                </a:cubicBezTo>
                <a:cubicBezTo>
                  <a:pt x="498856" y="2228342"/>
                  <a:pt x="0" y="1729613"/>
                  <a:pt x="0" y="1114171"/>
                </a:cubicBezTo>
                <a:close/>
              </a:path>
            </a:pathLst>
          </a:custGeom>
          <a:solidFill>
            <a:srgbClr val="EBF4FB"/>
          </a:solidFill>
          <a:ln w="25400" cap="sq" cmpd="sng">
            <a:solidFill>
              <a:srgbClr val="C8E0F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9" name="Google Shape;269;p4"/>
          <p:cNvGrpSpPr/>
          <p:nvPr/>
        </p:nvGrpSpPr>
        <p:grpSpPr>
          <a:xfrm>
            <a:off x="2377440" y="4917186"/>
            <a:ext cx="1645920" cy="1703070"/>
            <a:chOff x="0" y="-76200"/>
            <a:chExt cx="2194560" cy="2270760"/>
          </a:xfrm>
        </p:grpSpPr>
        <p:sp>
          <p:nvSpPr>
            <p:cNvPr id="270" name="Google Shape;270;p4"/>
            <p:cNvSpPr/>
            <p:nvPr/>
          </p:nvSpPr>
          <p:spPr>
            <a:xfrm>
              <a:off x="0" y="0"/>
              <a:ext cx="2194560" cy="2194560"/>
            </a:xfrm>
            <a:custGeom>
              <a:avLst/>
              <a:gdLst/>
              <a:ahLst/>
              <a:cxnLst/>
              <a:rect l="l" t="t" r="r" b="b"/>
              <a:pathLst>
                <a:path w="2194560" h="2194560" extrusionOk="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78304" r="-78304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Google Shape;271;p4"/>
            <p:cNvSpPr txBox="1"/>
            <p:nvPr/>
          </p:nvSpPr>
          <p:spPr>
            <a:xfrm>
              <a:off x="0" y="-76200"/>
              <a:ext cx="2194560" cy="22707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⚙</a:t>
              </a:r>
              <a:endParaRPr/>
            </a:p>
          </p:txBody>
        </p:sp>
      </p:grpSp>
      <p:grpSp>
        <p:nvGrpSpPr>
          <p:cNvPr id="272" name="Google Shape;272;p4"/>
          <p:cNvGrpSpPr/>
          <p:nvPr/>
        </p:nvGrpSpPr>
        <p:grpSpPr>
          <a:xfrm>
            <a:off x="731520" y="6760274"/>
            <a:ext cx="5120640" cy="737807"/>
            <a:chOff x="0" y="-57150"/>
            <a:chExt cx="6827520" cy="983742"/>
          </a:xfrm>
        </p:grpSpPr>
        <p:sp>
          <p:nvSpPr>
            <p:cNvPr id="273" name="Google Shape;273;p4"/>
            <p:cNvSpPr/>
            <p:nvPr/>
          </p:nvSpPr>
          <p:spPr>
            <a:xfrm>
              <a:off x="0" y="0"/>
              <a:ext cx="6827520" cy="926592"/>
            </a:xfrm>
            <a:custGeom>
              <a:avLst/>
              <a:gdLst/>
              <a:ahLst/>
              <a:cxnLst/>
              <a:rect l="l" t="t" r="r" b="b"/>
              <a:pathLst>
                <a:path w="6827520" h="926592" extrusionOk="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93571" b="-93571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Google Shape;274;p4"/>
            <p:cNvSpPr txBox="1"/>
            <p:nvPr/>
          </p:nvSpPr>
          <p:spPr>
            <a:xfrm>
              <a:off x="0" y="-57150"/>
              <a:ext cx="6827520" cy="983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 b="1" i="0" u="none" strike="noStrike" cap="non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Encrypted on the Chip</a:t>
              </a:r>
              <a:endParaRPr/>
            </a:p>
          </p:txBody>
        </p:sp>
      </p:grpSp>
      <p:grpSp>
        <p:nvGrpSpPr>
          <p:cNvPr id="275" name="Google Shape;275;p4"/>
          <p:cNvGrpSpPr/>
          <p:nvPr/>
        </p:nvGrpSpPr>
        <p:grpSpPr>
          <a:xfrm>
            <a:off x="822960" y="7432929"/>
            <a:ext cx="4937760" cy="1674495"/>
            <a:chOff x="0" y="-38100"/>
            <a:chExt cx="6583680" cy="2232660"/>
          </a:xfrm>
        </p:grpSpPr>
        <p:sp>
          <p:nvSpPr>
            <p:cNvPr id="276" name="Google Shape;276;p4"/>
            <p:cNvSpPr/>
            <p:nvPr/>
          </p:nvSpPr>
          <p:spPr>
            <a:xfrm>
              <a:off x="0" y="0"/>
              <a:ext cx="6583680" cy="2194560"/>
            </a:xfrm>
            <a:custGeom>
              <a:avLst/>
              <a:gdLst/>
              <a:ahLst/>
              <a:cxnLst/>
              <a:rect l="l" t="t" r="r" b="b"/>
              <a:pathLst>
                <a:path w="6583680" h="2194560" extrusionOk="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8455" b="-8455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Google Shape;277;p4"/>
            <p:cNvSpPr txBox="1"/>
            <p:nvPr/>
          </p:nvSpPr>
          <p:spPr>
            <a:xfrm>
              <a:off x="0" y="-38100"/>
              <a:ext cx="6583680" cy="22326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The record lives on the tag itself, sealed with AES-256-GCM. No cloud, no account — it works even with no signal, and a tampered tag fails the auth check.</a:t>
              </a:r>
              <a:endParaRPr/>
            </a:p>
          </p:txBody>
        </p:sp>
      </p:grpSp>
      <p:sp>
        <p:nvSpPr>
          <p:cNvPr id="278" name="Google Shape;278;p4"/>
          <p:cNvSpPr/>
          <p:nvPr/>
        </p:nvSpPr>
        <p:spPr>
          <a:xfrm>
            <a:off x="6388103" y="4650743"/>
            <a:ext cx="5511831" cy="4597431"/>
          </a:xfrm>
          <a:custGeom>
            <a:avLst/>
            <a:gdLst/>
            <a:ahLst/>
            <a:cxnLst/>
            <a:rect l="l" t="t" r="r" b="b"/>
            <a:pathLst>
              <a:path w="7349109" h="6129909" extrusionOk="0">
                <a:moveTo>
                  <a:pt x="0" y="294259"/>
                </a:moveTo>
                <a:cubicBezTo>
                  <a:pt x="0" y="131699"/>
                  <a:pt x="131699" y="0"/>
                  <a:pt x="294259" y="0"/>
                </a:cubicBezTo>
                <a:lnTo>
                  <a:pt x="7054850" y="0"/>
                </a:lnTo>
                <a:cubicBezTo>
                  <a:pt x="7217410" y="0"/>
                  <a:pt x="7349109" y="131699"/>
                  <a:pt x="7349109" y="294259"/>
                </a:cubicBezTo>
                <a:lnTo>
                  <a:pt x="7349109" y="5835650"/>
                </a:lnTo>
                <a:cubicBezTo>
                  <a:pt x="7349109" y="5998210"/>
                  <a:pt x="7217410" y="6129909"/>
                  <a:pt x="7054850" y="6129909"/>
                </a:cubicBezTo>
                <a:lnTo>
                  <a:pt x="294259" y="6129909"/>
                </a:lnTo>
                <a:cubicBezTo>
                  <a:pt x="131699" y="6129909"/>
                  <a:pt x="0" y="5998083"/>
                  <a:pt x="0" y="5835650"/>
                </a:cubicBezTo>
                <a:close/>
              </a:path>
            </a:pathLst>
          </a:custGeom>
          <a:solidFill>
            <a:srgbClr val="FFFFFF"/>
          </a:solidFill>
          <a:ln w="25400" cap="sq" cmpd="sng">
            <a:solidFill>
              <a:srgbClr val="E2EAF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4"/>
          <p:cNvSpPr/>
          <p:nvPr/>
        </p:nvSpPr>
        <p:spPr>
          <a:xfrm>
            <a:off x="8216903" y="4961639"/>
            <a:ext cx="1671256" cy="1671256"/>
          </a:xfrm>
          <a:custGeom>
            <a:avLst/>
            <a:gdLst/>
            <a:ahLst/>
            <a:cxnLst/>
            <a:rect l="l" t="t" r="r" b="b"/>
            <a:pathLst>
              <a:path w="2228342" h="2228342" extrusionOk="0">
                <a:moveTo>
                  <a:pt x="0" y="1114171"/>
                </a:moveTo>
                <a:cubicBezTo>
                  <a:pt x="0" y="498856"/>
                  <a:pt x="498856" y="0"/>
                  <a:pt x="1114171" y="0"/>
                </a:cubicBezTo>
                <a:cubicBezTo>
                  <a:pt x="1729486" y="0"/>
                  <a:pt x="2228342" y="498856"/>
                  <a:pt x="2228342" y="1114171"/>
                </a:cubicBezTo>
                <a:cubicBezTo>
                  <a:pt x="2228342" y="1729486"/>
                  <a:pt x="1729486" y="2228342"/>
                  <a:pt x="1114171" y="2228342"/>
                </a:cubicBezTo>
                <a:cubicBezTo>
                  <a:pt x="498856" y="2228342"/>
                  <a:pt x="0" y="1729613"/>
                  <a:pt x="0" y="1114171"/>
                </a:cubicBezTo>
                <a:close/>
              </a:path>
            </a:pathLst>
          </a:custGeom>
          <a:solidFill>
            <a:srgbClr val="EBF4FB"/>
          </a:solidFill>
          <a:ln w="25400" cap="sq" cmpd="sng">
            <a:solidFill>
              <a:srgbClr val="C8E0F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0" name="Google Shape;280;p4"/>
          <p:cNvGrpSpPr/>
          <p:nvPr/>
        </p:nvGrpSpPr>
        <p:grpSpPr>
          <a:xfrm>
            <a:off x="8229600" y="4917186"/>
            <a:ext cx="1645920" cy="1703070"/>
            <a:chOff x="0" y="-76200"/>
            <a:chExt cx="2194560" cy="2270760"/>
          </a:xfrm>
        </p:grpSpPr>
        <p:sp>
          <p:nvSpPr>
            <p:cNvPr id="281" name="Google Shape;281;p4"/>
            <p:cNvSpPr/>
            <p:nvPr/>
          </p:nvSpPr>
          <p:spPr>
            <a:xfrm>
              <a:off x="0" y="0"/>
              <a:ext cx="2194560" cy="2194560"/>
            </a:xfrm>
            <a:custGeom>
              <a:avLst/>
              <a:gdLst/>
              <a:ahLst/>
              <a:cxnLst/>
              <a:rect l="l" t="t" r="r" b="b"/>
              <a:pathLst>
                <a:path w="2194560" h="2194560" extrusionOk="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78304" r="-78304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Google Shape;282;p4"/>
            <p:cNvSpPr txBox="1"/>
            <p:nvPr/>
          </p:nvSpPr>
          <p:spPr>
            <a:xfrm>
              <a:off x="0" y="-76200"/>
              <a:ext cx="2194560" cy="22707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🌐</a:t>
              </a:r>
              <a:endParaRPr/>
            </a:p>
          </p:txBody>
        </p:sp>
      </p:grpSp>
      <p:grpSp>
        <p:nvGrpSpPr>
          <p:cNvPr id="283" name="Google Shape;283;p4"/>
          <p:cNvGrpSpPr/>
          <p:nvPr/>
        </p:nvGrpSpPr>
        <p:grpSpPr>
          <a:xfrm>
            <a:off x="6583680" y="6760274"/>
            <a:ext cx="5120640" cy="737807"/>
            <a:chOff x="0" y="-57150"/>
            <a:chExt cx="6827520" cy="983742"/>
          </a:xfrm>
        </p:grpSpPr>
        <p:sp>
          <p:nvSpPr>
            <p:cNvPr id="284" name="Google Shape;284;p4"/>
            <p:cNvSpPr/>
            <p:nvPr/>
          </p:nvSpPr>
          <p:spPr>
            <a:xfrm>
              <a:off x="0" y="0"/>
              <a:ext cx="6827520" cy="926592"/>
            </a:xfrm>
            <a:custGeom>
              <a:avLst/>
              <a:gdLst/>
              <a:ahLst/>
              <a:cxnLst/>
              <a:rect l="l" t="t" r="r" b="b"/>
              <a:pathLst>
                <a:path w="6827520" h="926592" extrusionOk="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93571" b="-93571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Google Shape;285;p4"/>
            <p:cNvSpPr txBox="1"/>
            <p:nvPr/>
          </p:nvSpPr>
          <p:spPr>
            <a:xfrm>
              <a:off x="0" y="-57150"/>
              <a:ext cx="6827520" cy="983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 b="1" i="0" u="none" strike="noStrike" cap="non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Offline Conflict Checker</a:t>
              </a:r>
              <a:endParaRPr/>
            </a:p>
          </p:txBody>
        </p:sp>
      </p:grpSp>
      <p:grpSp>
        <p:nvGrpSpPr>
          <p:cNvPr id="286" name="Google Shape;286;p4"/>
          <p:cNvGrpSpPr/>
          <p:nvPr/>
        </p:nvGrpSpPr>
        <p:grpSpPr>
          <a:xfrm>
            <a:off x="6675120" y="7432929"/>
            <a:ext cx="4937760" cy="1674495"/>
            <a:chOff x="0" y="-38100"/>
            <a:chExt cx="6583680" cy="2232660"/>
          </a:xfrm>
        </p:grpSpPr>
        <p:sp>
          <p:nvSpPr>
            <p:cNvPr id="287" name="Google Shape;287;p4"/>
            <p:cNvSpPr/>
            <p:nvPr/>
          </p:nvSpPr>
          <p:spPr>
            <a:xfrm>
              <a:off x="0" y="0"/>
              <a:ext cx="6583680" cy="2194560"/>
            </a:xfrm>
            <a:custGeom>
              <a:avLst/>
              <a:gdLst/>
              <a:ahLst/>
              <a:cxnLst/>
              <a:rect l="l" t="t" r="r" b="b"/>
              <a:pathLst>
                <a:path w="6583680" h="2194560" extrusionOk="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8455" b="-8455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Google Shape;288;p4"/>
            <p:cNvSpPr txBox="1"/>
            <p:nvPr/>
          </p:nvSpPr>
          <p:spPr>
            <a:xfrm>
              <a:off x="0" y="-38100"/>
              <a:ext cx="6583680" cy="22326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Before a responder administers a drug, Patient-Tap checks it against the patient's allergies and recent doses on-device, and blocks dangerous conflicts behind an explicit override.</a:t>
              </a:r>
              <a:endParaRPr/>
            </a:p>
          </p:txBody>
        </p:sp>
      </p:grpSp>
      <p:sp>
        <p:nvSpPr>
          <p:cNvPr id="289" name="Google Shape;289;p4"/>
          <p:cNvSpPr/>
          <p:nvPr/>
        </p:nvSpPr>
        <p:spPr>
          <a:xfrm>
            <a:off x="12240263" y="4650743"/>
            <a:ext cx="5511831" cy="4597431"/>
          </a:xfrm>
          <a:custGeom>
            <a:avLst/>
            <a:gdLst/>
            <a:ahLst/>
            <a:cxnLst/>
            <a:rect l="l" t="t" r="r" b="b"/>
            <a:pathLst>
              <a:path w="7349109" h="6129909" extrusionOk="0">
                <a:moveTo>
                  <a:pt x="0" y="294259"/>
                </a:moveTo>
                <a:cubicBezTo>
                  <a:pt x="0" y="131699"/>
                  <a:pt x="131699" y="0"/>
                  <a:pt x="294259" y="0"/>
                </a:cubicBezTo>
                <a:lnTo>
                  <a:pt x="7054850" y="0"/>
                </a:lnTo>
                <a:cubicBezTo>
                  <a:pt x="7217410" y="0"/>
                  <a:pt x="7349109" y="131699"/>
                  <a:pt x="7349109" y="294259"/>
                </a:cubicBezTo>
                <a:lnTo>
                  <a:pt x="7349109" y="5835650"/>
                </a:lnTo>
                <a:cubicBezTo>
                  <a:pt x="7349109" y="5998210"/>
                  <a:pt x="7217410" y="6129909"/>
                  <a:pt x="7054850" y="6129909"/>
                </a:cubicBezTo>
                <a:lnTo>
                  <a:pt x="294259" y="6129909"/>
                </a:lnTo>
                <a:cubicBezTo>
                  <a:pt x="131699" y="6129909"/>
                  <a:pt x="0" y="5998083"/>
                  <a:pt x="0" y="5835650"/>
                </a:cubicBezTo>
                <a:close/>
              </a:path>
            </a:pathLst>
          </a:custGeom>
          <a:solidFill>
            <a:srgbClr val="FFFFFF"/>
          </a:solidFill>
          <a:ln w="25400" cap="sq" cmpd="sng">
            <a:solidFill>
              <a:srgbClr val="E2EAF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4"/>
          <p:cNvSpPr/>
          <p:nvPr/>
        </p:nvSpPr>
        <p:spPr>
          <a:xfrm>
            <a:off x="14069063" y="4961639"/>
            <a:ext cx="1671256" cy="1671256"/>
          </a:xfrm>
          <a:custGeom>
            <a:avLst/>
            <a:gdLst/>
            <a:ahLst/>
            <a:cxnLst/>
            <a:rect l="l" t="t" r="r" b="b"/>
            <a:pathLst>
              <a:path w="2228342" h="2228342" extrusionOk="0">
                <a:moveTo>
                  <a:pt x="0" y="1114171"/>
                </a:moveTo>
                <a:cubicBezTo>
                  <a:pt x="0" y="498856"/>
                  <a:pt x="498856" y="0"/>
                  <a:pt x="1114171" y="0"/>
                </a:cubicBezTo>
                <a:cubicBezTo>
                  <a:pt x="1729486" y="0"/>
                  <a:pt x="2228342" y="498856"/>
                  <a:pt x="2228342" y="1114171"/>
                </a:cubicBezTo>
                <a:cubicBezTo>
                  <a:pt x="2228342" y="1729486"/>
                  <a:pt x="1729486" y="2228342"/>
                  <a:pt x="1114171" y="2228342"/>
                </a:cubicBezTo>
                <a:cubicBezTo>
                  <a:pt x="498856" y="2228342"/>
                  <a:pt x="0" y="1729613"/>
                  <a:pt x="0" y="1114171"/>
                </a:cubicBezTo>
                <a:close/>
              </a:path>
            </a:pathLst>
          </a:custGeom>
          <a:solidFill>
            <a:srgbClr val="EBF4FB"/>
          </a:solidFill>
          <a:ln w="25400" cap="sq" cmpd="sng">
            <a:solidFill>
              <a:srgbClr val="C8E0F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1" name="Google Shape;291;p4"/>
          <p:cNvGrpSpPr/>
          <p:nvPr/>
        </p:nvGrpSpPr>
        <p:grpSpPr>
          <a:xfrm>
            <a:off x="14081760" y="4917186"/>
            <a:ext cx="1645920" cy="1703070"/>
            <a:chOff x="0" y="-76200"/>
            <a:chExt cx="2194560" cy="2270760"/>
          </a:xfrm>
        </p:grpSpPr>
        <p:sp>
          <p:nvSpPr>
            <p:cNvPr id="292" name="Google Shape;292;p4"/>
            <p:cNvSpPr/>
            <p:nvPr/>
          </p:nvSpPr>
          <p:spPr>
            <a:xfrm>
              <a:off x="0" y="0"/>
              <a:ext cx="2194560" cy="2194560"/>
            </a:xfrm>
            <a:custGeom>
              <a:avLst/>
              <a:gdLst/>
              <a:ahLst/>
              <a:cxnLst/>
              <a:rect l="l" t="t" r="r" b="b"/>
              <a:pathLst>
                <a:path w="2194560" h="2194560" extrusionOk="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78304" r="-78304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Google Shape;293;p4"/>
            <p:cNvSpPr txBox="1"/>
            <p:nvPr/>
          </p:nvSpPr>
          <p:spPr>
            <a:xfrm>
              <a:off x="0" y="-76200"/>
              <a:ext cx="2194560" cy="22707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📱</a:t>
              </a:r>
              <a:endParaRPr/>
            </a:p>
          </p:txBody>
        </p:sp>
      </p:grpSp>
      <p:grpSp>
        <p:nvGrpSpPr>
          <p:cNvPr id="294" name="Google Shape;294;p4"/>
          <p:cNvGrpSpPr/>
          <p:nvPr/>
        </p:nvGrpSpPr>
        <p:grpSpPr>
          <a:xfrm>
            <a:off x="12435840" y="6760274"/>
            <a:ext cx="5120640" cy="737807"/>
            <a:chOff x="0" y="-57150"/>
            <a:chExt cx="6827520" cy="983742"/>
          </a:xfrm>
        </p:grpSpPr>
        <p:sp>
          <p:nvSpPr>
            <p:cNvPr id="295" name="Google Shape;295;p4"/>
            <p:cNvSpPr/>
            <p:nvPr/>
          </p:nvSpPr>
          <p:spPr>
            <a:xfrm>
              <a:off x="0" y="0"/>
              <a:ext cx="6827520" cy="926592"/>
            </a:xfrm>
            <a:custGeom>
              <a:avLst/>
              <a:gdLst/>
              <a:ahLst/>
              <a:cxnLst/>
              <a:rect l="l" t="t" r="r" b="b"/>
              <a:pathLst>
                <a:path w="6827520" h="926592" extrusionOk="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93571" b="-93571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Google Shape;296;p4"/>
            <p:cNvSpPr txBox="1"/>
            <p:nvPr/>
          </p:nvSpPr>
          <p:spPr>
            <a:xfrm>
              <a:off x="0" y="-57150"/>
              <a:ext cx="6827520" cy="983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 b="1" i="0" u="none" strike="noStrike" cap="non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Patient + Responder App</a:t>
              </a:r>
              <a:endParaRPr/>
            </a:p>
          </p:txBody>
        </p:sp>
      </p:grpSp>
      <p:grpSp>
        <p:nvGrpSpPr>
          <p:cNvPr id="297" name="Google Shape;297;p4"/>
          <p:cNvGrpSpPr/>
          <p:nvPr/>
        </p:nvGrpSpPr>
        <p:grpSpPr>
          <a:xfrm>
            <a:off x="12527280" y="7432929"/>
            <a:ext cx="4937760" cy="1674495"/>
            <a:chOff x="0" y="-38100"/>
            <a:chExt cx="6583680" cy="2232660"/>
          </a:xfrm>
        </p:grpSpPr>
        <p:sp>
          <p:nvSpPr>
            <p:cNvPr id="298" name="Google Shape;298;p4"/>
            <p:cNvSpPr/>
            <p:nvPr/>
          </p:nvSpPr>
          <p:spPr>
            <a:xfrm>
              <a:off x="0" y="0"/>
              <a:ext cx="6583680" cy="2194560"/>
            </a:xfrm>
            <a:custGeom>
              <a:avLst/>
              <a:gdLst/>
              <a:ahLst/>
              <a:cxnLst/>
              <a:rect l="l" t="t" r="r" b="b"/>
              <a:pathLst>
                <a:path w="6583680" h="2194560" extrusionOk="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8455" b="-8455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Google Shape;299;p4"/>
            <p:cNvSpPr txBox="1"/>
            <p:nvPr/>
          </p:nvSpPr>
          <p:spPr>
            <a:xfrm>
              <a:off x="0" y="-38100"/>
              <a:ext cx="6583680" cy="22326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One app, two modes: patients build and write their profile; responders scan, treat and log back to the tag. Native Android NFC, with a web build for demos.</a:t>
              </a:r>
              <a:endParaRPr/>
            </a:p>
          </p:txBody>
        </p:sp>
      </p:grpSp>
      <p:sp>
        <p:nvSpPr>
          <p:cNvPr id="300" name="Google Shape;300;p4"/>
          <p:cNvSpPr/>
          <p:nvPr/>
        </p:nvSpPr>
        <p:spPr>
          <a:xfrm>
            <a:off x="15798500" y="238800"/>
            <a:ext cx="2143125" cy="1475499"/>
          </a:xfrm>
          <a:custGeom>
            <a:avLst/>
            <a:gdLst/>
            <a:ahLst/>
            <a:cxnLst/>
            <a:rect l="l" t="t" r="r" b="b"/>
            <a:pathLst>
              <a:path w="2143125" h="1475499" extrusionOk="0">
                <a:moveTo>
                  <a:pt x="0" y="0"/>
                </a:moveTo>
                <a:lnTo>
                  <a:pt x="2143125" y="0"/>
                </a:lnTo>
                <a:lnTo>
                  <a:pt x="2143125" y="1475499"/>
                </a:lnTo>
                <a:lnTo>
                  <a:pt x="0" y="14754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700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5"/>
          <p:cNvGrpSpPr/>
          <p:nvPr/>
        </p:nvGrpSpPr>
        <p:grpSpPr>
          <a:xfrm>
            <a:off x="640080" y="9609201"/>
            <a:ext cx="4572000" cy="485775"/>
            <a:chOff x="0" y="-38100"/>
            <a:chExt cx="6096000" cy="647700"/>
          </a:xfrm>
        </p:grpSpPr>
        <p:sp>
          <p:nvSpPr>
            <p:cNvPr id="306" name="Google Shape;306;p5"/>
            <p:cNvSpPr/>
            <p:nvPr/>
          </p:nvSpPr>
          <p:spPr>
            <a:xfrm>
              <a:off x="0" y="0"/>
              <a:ext cx="6096000" cy="609600"/>
            </a:xfrm>
            <a:custGeom>
              <a:avLst/>
              <a:gdLst/>
              <a:ahLst/>
              <a:cxnLst/>
              <a:rect l="l" t="t" r="r" b="b"/>
              <a:pathLst>
                <a:path w="6096000" h="609600" extrusionOk="0">
                  <a:moveTo>
                    <a:pt x="0" y="0"/>
                  </a:moveTo>
                  <a:lnTo>
                    <a:pt x="6096000" y="0"/>
                  </a:lnTo>
                  <a:lnTo>
                    <a:pt x="609600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44856" b="-144856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Google Shape;307;p5"/>
            <p:cNvSpPr txBox="1"/>
            <p:nvPr/>
          </p:nvSpPr>
          <p:spPr>
            <a:xfrm>
              <a:off x="0" y="-38100"/>
              <a:ext cx="60960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u="none" strike="noStrike" cap="non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© CODEAMBLE 2026</a:t>
              </a:r>
              <a:endParaRPr/>
            </a:p>
          </p:txBody>
        </p:sp>
      </p:grpSp>
      <p:grpSp>
        <p:nvGrpSpPr>
          <p:cNvPr id="308" name="Google Shape;308;p5"/>
          <p:cNvGrpSpPr/>
          <p:nvPr/>
        </p:nvGrpSpPr>
        <p:grpSpPr>
          <a:xfrm>
            <a:off x="6400800" y="9609201"/>
            <a:ext cx="5852160" cy="485775"/>
            <a:chOff x="0" y="-38100"/>
            <a:chExt cx="7802880" cy="647700"/>
          </a:xfrm>
        </p:grpSpPr>
        <p:sp>
          <p:nvSpPr>
            <p:cNvPr id="309" name="Google Shape;309;p5"/>
            <p:cNvSpPr/>
            <p:nvPr/>
          </p:nvSpPr>
          <p:spPr>
            <a:xfrm>
              <a:off x="0" y="0"/>
              <a:ext cx="7802880" cy="609600"/>
            </a:xfrm>
            <a:custGeom>
              <a:avLst/>
              <a:gdLst/>
              <a:ahLst/>
              <a:cxnLst/>
              <a:rect l="l" t="t" r="r" b="b"/>
              <a:pathLst>
                <a:path w="7802880" h="609600" extrusionOk="0">
                  <a:moveTo>
                    <a:pt x="0" y="0"/>
                  </a:moveTo>
                  <a:lnTo>
                    <a:pt x="7802880" y="0"/>
                  </a:lnTo>
                  <a:lnTo>
                    <a:pt x="780288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99401" b="-199401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Google Shape;310;p5"/>
            <p:cNvSpPr txBox="1"/>
            <p:nvPr/>
          </p:nvSpPr>
          <p:spPr>
            <a:xfrm>
              <a:off x="0" y="-38100"/>
              <a:ext cx="7802880" cy="64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u="none" strike="noStrike" cap="non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ZEN Club – </a:t>
              </a:r>
              <a:r>
                <a:rPr lang="en-US" sz="1700" b="1" i="0" u="none" strike="noStrike" cap="non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Zone of Engineering Innovators</a:t>
              </a:r>
              <a:endParaRPr/>
            </a:p>
          </p:txBody>
        </p:sp>
      </p:grpSp>
      <p:grpSp>
        <p:nvGrpSpPr>
          <p:cNvPr id="311" name="Google Shape;311;p5"/>
          <p:cNvGrpSpPr/>
          <p:nvPr/>
        </p:nvGrpSpPr>
        <p:grpSpPr>
          <a:xfrm>
            <a:off x="12984480" y="9609201"/>
            <a:ext cx="5120640" cy="485775"/>
            <a:chOff x="0" y="-38100"/>
            <a:chExt cx="6827520" cy="647700"/>
          </a:xfrm>
        </p:grpSpPr>
        <p:sp>
          <p:nvSpPr>
            <p:cNvPr id="312" name="Google Shape;312;p5"/>
            <p:cNvSpPr/>
            <p:nvPr/>
          </p:nvSpPr>
          <p:spPr>
            <a:xfrm>
              <a:off x="0" y="0"/>
              <a:ext cx="6827520" cy="609600"/>
            </a:xfrm>
            <a:custGeom>
              <a:avLst/>
              <a:gdLst/>
              <a:ahLst/>
              <a:cxnLst/>
              <a:rect l="l" t="t" r="r" b="b"/>
              <a:pathLst>
                <a:path w="6827520" h="609600" extrusionOk="0">
                  <a:moveTo>
                    <a:pt x="0" y="0"/>
                  </a:moveTo>
                  <a:lnTo>
                    <a:pt x="6827520" y="0"/>
                  </a:lnTo>
                  <a:lnTo>
                    <a:pt x="682752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68226" b="-168226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Google Shape;313;p5"/>
            <p:cNvSpPr txBox="1"/>
            <p:nvPr/>
          </p:nvSpPr>
          <p:spPr>
            <a:xfrm>
              <a:off x="0" y="-38100"/>
              <a:ext cx="6827520" cy="64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u="none" strike="noStrike" cap="non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contact@zoneofengineeringinnovators.com</a:t>
              </a:r>
              <a:endParaRPr/>
            </a:p>
          </p:txBody>
        </p:sp>
      </p:grpSp>
      <p:grpSp>
        <p:nvGrpSpPr>
          <p:cNvPr id="314" name="Google Shape;314;p5"/>
          <p:cNvGrpSpPr/>
          <p:nvPr/>
        </p:nvGrpSpPr>
        <p:grpSpPr>
          <a:xfrm>
            <a:off x="548640" y="215741"/>
            <a:ext cx="2011680" cy="1521619"/>
            <a:chOff x="0" y="-200025"/>
            <a:chExt cx="2682240" cy="2028825"/>
          </a:xfrm>
        </p:grpSpPr>
        <p:sp>
          <p:nvSpPr>
            <p:cNvPr id="315" name="Google Shape;315;p5"/>
            <p:cNvSpPr/>
            <p:nvPr/>
          </p:nvSpPr>
          <p:spPr>
            <a:xfrm>
              <a:off x="0" y="0"/>
              <a:ext cx="2682240" cy="1828800"/>
            </a:xfrm>
            <a:custGeom>
              <a:avLst/>
              <a:gdLst/>
              <a:ahLst/>
              <a:cxnLst/>
              <a:rect l="l" t="t" r="r" b="b"/>
              <a:pathLst>
                <a:path w="2682240" h="1828800" extrusionOk="0">
                  <a:moveTo>
                    <a:pt x="0" y="0"/>
                  </a:moveTo>
                  <a:lnTo>
                    <a:pt x="2682240" y="0"/>
                  </a:lnTo>
                  <a:lnTo>
                    <a:pt x="2682240" y="1828800"/>
                  </a:lnTo>
                  <a:lnTo>
                    <a:pt x="0" y="1828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37480" r="-37480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Google Shape;316;p5"/>
            <p:cNvSpPr txBox="1"/>
            <p:nvPr/>
          </p:nvSpPr>
          <p:spPr>
            <a:xfrm>
              <a:off x="0" y="-200025"/>
              <a:ext cx="2682240" cy="2028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99" b="1" i="0" u="none" strike="noStrike" cap="none">
                  <a:solidFill>
                    <a:srgbClr val="D0DFF0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/>
            </a:p>
          </p:txBody>
        </p:sp>
      </p:grpSp>
      <p:grpSp>
        <p:nvGrpSpPr>
          <p:cNvPr id="317" name="Google Shape;317;p5"/>
          <p:cNvGrpSpPr/>
          <p:nvPr/>
        </p:nvGrpSpPr>
        <p:grpSpPr>
          <a:xfrm>
            <a:off x="2377440" y="433483"/>
            <a:ext cx="13716000" cy="992981"/>
            <a:chOff x="0" y="-104775"/>
            <a:chExt cx="18288000" cy="1323975"/>
          </a:xfrm>
        </p:grpSpPr>
        <p:sp>
          <p:nvSpPr>
            <p:cNvPr id="318" name="Google Shape;318;p5"/>
            <p:cNvSpPr/>
            <p:nvPr/>
          </p:nvSpPr>
          <p:spPr>
            <a:xfrm>
              <a:off x="0" y="0"/>
              <a:ext cx="18288000" cy="1219200"/>
            </a:xfrm>
            <a:custGeom>
              <a:avLst/>
              <a:gdLst/>
              <a:ahLst/>
              <a:cxnLst/>
              <a:rect l="l" t="t" r="r" b="b"/>
              <a:pathLst>
                <a:path w="18288000" h="1219200" extrusionOk="0">
                  <a:moveTo>
                    <a:pt x="0" y="0"/>
                  </a:moveTo>
                  <a:lnTo>
                    <a:pt x="18288000" y="0"/>
                  </a:lnTo>
                  <a:lnTo>
                    <a:pt x="1828800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474989" b="-474989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Google Shape;319;p5"/>
            <p:cNvSpPr txBox="1"/>
            <p:nvPr/>
          </p:nvSpPr>
          <p:spPr>
            <a:xfrm>
              <a:off x="0" y="-104775"/>
              <a:ext cx="18288000" cy="1323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200" b="1" i="0" u="none" strike="noStrike" cap="non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Innovation &amp; Differentiators</a:t>
              </a:r>
              <a:endParaRPr/>
            </a:p>
          </p:txBody>
        </p:sp>
      </p:grpSp>
      <p:grpSp>
        <p:nvGrpSpPr>
          <p:cNvPr id="320" name="Google Shape;320;p5"/>
          <p:cNvGrpSpPr/>
          <p:nvPr/>
        </p:nvGrpSpPr>
        <p:grpSpPr>
          <a:xfrm>
            <a:off x="2377440" y="1288161"/>
            <a:ext cx="12801600" cy="540639"/>
            <a:chOff x="0" y="-38100"/>
            <a:chExt cx="17068800" cy="720852"/>
          </a:xfrm>
        </p:grpSpPr>
        <p:sp>
          <p:nvSpPr>
            <p:cNvPr id="321" name="Google Shape;321;p5"/>
            <p:cNvSpPr/>
            <p:nvPr/>
          </p:nvSpPr>
          <p:spPr>
            <a:xfrm>
              <a:off x="0" y="0"/>
              <a:ext cx="17068800" cy="682752"/>
            </a:xfrm>
            <a:custGeom>
              <a:avLst/>
              <a:gdLst/>
              <a:ahLst/>
              <a:cxnLst/>
              <a:rect l="l" t="t" r="r" b="b"/>
              <a:pathLst>
                <a:path w="17068800" h="682752" extrusionOk="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37140" b="-437140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Google Shape;322;p5"/>
            <p:cNvSpPr txBox="1"/>
            <p:nvPr/>
          </p:nvSpPr>
          <p:spPr>
            <a:xfrm>
              <a:off x="0" y="-38100"/>
              <a:ext cx="17068800" cy="7208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What makes your solution stand out from the rest?</a:t>
              </a:r>
              <a:endParaRPr/>
            </a:p>
          </p:txBody>
        </p:sp>
      </p:grpSp>
      <p:sp>
        <p:nvSpPr>
          <p:cNvPr id="323" name="Google Shape;323;p5"/>
          <p:cNvSpPr/>
          <p:nvPr/>
        </p:nvSpPr>
        <p:spPr>
          <a:xfrm>
            <a:off x="535943" y="1998983"/>
            <a:ext cx="8072151" cy="7340631"/>
          </a:xfrm>
          <a:custGeom>
            <a:avLst/>
            <a:gdLst/>
            <a:ahLst/>
            <a:cxnLst/>
            <a:rect l="l" t="t" r="r" b="b"/>
            <a:pathLst>
              <a:path w="10762869" h="9787509" extrusionOk="0">
                <a:moveTo>
                  <a:pt x="0" y="293624"/>
                </a:moveTo>
                <a:cubicBezTo>
                  <a:pt x="0" y="131445"/>
                  <a:pt x="131445" y="0"/>
                  <a:pt x="293624" y="0"/>
                </a:cubicBezTo>
                <a:lnTo>
                  <a:pt x="10469245" y="0"/>
                </a:lnTo>
                <a:cubicBezTo>
                  <a:pt x="10631424" y="0"/>
                  <a:pt x="10762869" y="131445"/>
                  <a:pt x="10762869" y="293624"/>
                </a:cubicBezTo>
                <a:lnTo>
                  <a:pt x="10762869" y="9493885"/>
                </a:lnTo>
                <a:cubicBezTo>
                  <a:pt x="10762869" y="9656064"/>
                  <a:pt x="10631424" y="9787509"/>
                  <a:pt x="10469245" y="9787509"/>
                </a:cubicBezTo>
                <a:lnTo>
                  <a:pt x="293624" y="9787509"/>
                </a:lnTo>
                <a:cubicBezTo>
                  <a:pt x="131445" y="9787509"/>
                  <a:pt x="0" y="9656064"/>
                  <a:pt x="0" y="9493885"/>
                </a:cubicBezTo>
                <a:close/>
              </a:path>
            </a:pathLst>
          </a:custGeom>
          <a:solidFill>
            <a:srgbClr val="FFFFFF"/>
          </a:solidFill>
          <a:ln w="25400" cap="sq" cmpd="sng">
            <a:solidFill>
              <a:srgbClr val="E2EAF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4" name="Google Shape;324;p5"/>
          <p:cNvGrpSpPr/>
          <p:nvPr/>
        </p:nvGrpSpPr>
        <p:grpSpPr>
          <a:xfrm>
            <a:off x="914400" y="2195417"/>
            <a:ext cx="7315200" cy="730663"/>
            <a:chOff x="0" y="-47625"/>
            <a:chExt cx="9753600" cy="974217"/>
          </a:xfrm>
        </p:grpSpPr>
        <p:sp>
          <p:nvSpPr>
            <p:cNvPr id="325" name="Google Shape;325;p5"/>
            <p:cNvSpPr/>
            <p:nvPr/>
          </p:nvSpPr>
          <p:spPr>
            <a:xfrm>
              <a:off x="0" y="0"/>
              <a:ext cx="9753600" cy="926592"/>
            </a:xfrm>
            <a:custGeom>
              <a:avLst/>
              <a:gdLst/>
              <a:ahLst/>
              <a:cxnLst/>
              <a:rect l="l" t="t" r="r" b="b"/>
              <a:pathLst>
                <a:path w="9753600" h="926592" extrusionOk="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55103" b="-155103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Google Shape;326;p5"/>
            <p:cNvSpPr txBox="1"/>
            <p:nvPr/>
          </p:nvSpPr>
          <p:spPr>
            <a:xfrm>
              <a:off x="0" y="-47625"/>
              <a:ext cx="9753600" cy="9742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 b="1" i="0" u="none" strike="noStrike" cap="non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⭐  Key Differentiators</a:t>
              </a:r>
              <a:endParaRPr/>
            </a:p>
          </p:txBody>
        </p:sp>
      </p:grpSp>
      <p:grpSp>
        <p:nvGrpSpPr>
          <p:cNvPr id="327" name="Google Shape;327;p5"/>
          <p:cNvGrpSpPr/>
          <p:nvPr/>
        </p:nvGrpSpPr>
        <p:grpSpPr>
          <a:xfrm>
            <a:off x="914400" y="2981801"/>
            <a:ext cx="7132320" cy="1041559"/>
            <a:chOff x="0" y="-47625"/>
            <a:chExt cx="9509760" cy="1388745"/>
          </a:xfrm>
        </p:grpSpPr>
        <p:sp>
          <p:nvSpPr>
            <p:cNvPr id="328" name="Google Shape;328;p5"/>
            <p:cNvSpPr/>
            <p:nvPr/>
          </p:nvSpPr>
          <p:spPr>
            <a:xfrm>
              <a:off x="0" y="0"/>
              <a:ext cx="9509760" cy="1341120"/>
            </a:xfrm>
            <a:custGeom>
              <a:avLst/>
              <a:gdLst/>
              <a:ahLst/>
              <a:cxnLst/>
              <a:rect l="l" t="t" r="r" b="b"/>
              <a:pathLst>
                <a:path w="9509760" h="1341120" extrusionOk="0">
                  <a:moveTo>
                    <a:pt x="0" y="0"/>
                  </a:moveTo>
                  <a:lnTo>
                    <a:pt x="9509760" y="0"/>
                  </a:lnTo>
                  <a:lnTo>
                    <a:pt x="950976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88167" b="-88167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Google Shape;329;p5"/>
            <p:cNvSpPr txBox="1"/>
            <p:nvPr/>
          </p:nvSpPr>
          <p:spPr>
            <a:xfrm>
              <a:off x="0" y="-47625"/>
              <a:ext cx="9509760" cy="1388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What makes your solution unique? How is it different from existing solutions? List 2–3 key differentiators below:</a:t>
              </a:r>
              <a:endParaRPr/>
            </a:p>
          </p:txBody>
        </p:sp>
      </p:grpSp>
      <p:grpSp>
        <p:nvGrpSpPr>
          <p:cNvPr id="330" name="Google Shape;330;p5"/>
          <p:cNvGrpSpPr/>
          <p:nvPr/>
        </p:nvGrpSpPr>
        <p:grpSpPr>
          <a:xfrm>
            <a:off x="914400" y="4170521"/>
            <a:ext cx="7132320" cy="1169575"/>
            <a:chOff x="0" y="-47625"/>
            <a:chExt cx="9509760" cy="1559433"/>
          </a:xfrm>
        </p:grpSpPr>
        <p:sp>
          <p:nvSpPr>
            <p:cNvPr id="331" name="Google Shape;331;p5"/>
            <p:cNvSpPr/>
            <p:nvPr/>
          </p:nvSpPr>
          <p:spPr>
            <a:xfrm>
              <a:off x="0" y="0"/>
              <a:ext cx="9509760" cy="1511808"/>
            </a:xfrm>
            <a:custGeom>
              <a:avLst/>
              <a:gdLst/>
              <a:ahLst/>
              <a:cxnLst/>
              <a:rect l="l" t="t" r="r" b="b"/>
              <a:pathLst>
                <a:path w="9509760" h="1511808" extrusionOk="0">
                  <a:moveTo>
                    <a:pt x="0" y="0"/>
                  </a:moveTo>
                  <a:lnTo>
                    <a:pt x="9509760" y="0"/>
                  </a:lnTo>
                  <a:lnTo>
                    <a:pt x="9509760" y="1511808"/>
                  </a:lnTo>
                  <a:lnTo>
                    <a:pt x="0" y="151180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72567" b="-72567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Google Shape;332;p5"/>
            <p:cNvSpPr txBox="1"/>
            <p:nvPr/>
          </p:nvSpPr>
          <p:spPr>
            <a:xfrm>
              <a:off x="0" y="-47625"/>
              <a:ext cx="9509760" cy="1559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u="none" strike="noStrike" cap="non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→  </a:t>
              </a:r>
              <a:r>
                <a:rPr lang="en-US" sz="2200" b="1" i="0" u="none" strike="noStrike" cap="non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Offline by design:  </a:t>
              </a:r>
              <a:r>
                <a:rPr lang="en-US" sz="2200" b="0" i="0" u="none" strike="noStrike" cap="non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the record reads in under a second on the chip — no network, no account — exactly where cloud and phone IDs fail.</a:t>
              </a:r>
              <a:endParaRPr/>
            </a:p>
          </p:txBody>
        </p:sp>
      </p:grpSp>
      <p:grpSp>
        <p:nvGrpSpPr>
          <p:cNvPr id="333" name="Google Shape;333;p5"/>
          <p:cNvGrpSpPr/>
          <p:nvPr/>
        </p:nvGrpSpPr>
        <p:grpSpPr>
          <a:xfrm>
            <a:off x="914400" y="5487257"/>
            <a:ext cx="7132320" cy="1169575"/>
            <a:chOff x="0" y="-47625"/>
            <a:chExt cx="9509760" cy="1559433"/>
          </a:xfrm>
        </p:grpSpPr>
        <p:sp>
          <p:nvSpPr>
            <p:cNvPr id="334" name="Google Shape;334;p5"/>
            <p:cNvSpPr/>
            <p:nvPr/>
          </p:nvSpPr>
          <p:spPr>
            <a:xfrm>
              <a:off x="0" y="0"/>
              <a:ext cx="9509760" cy="1511808"/>
            </a:xfrm>
            <a:custGeom>
              <a:avLst/>
              <a:gdLst/>
              <a:ahLst/>
              <a:cxnLst/>
              <a:rect l="l" t="t" r="r" b="b"/>
              <a:pathLst>
                <a:path w="9509760" h="1511808" extrusionOk="0">
                  <a:moveTo>
                    <a:pt x="0" y="0"/>
                  </a:moveTo>
                  <a:lnTo>
                    <a:pt x="9509760" y="0"/>
                  </a:lnTo>
                  <a:lnTo>
                    <a:pt x="9509760" y="1511808"/>
                  </a:lnTo>
                  <a:lnTo>
                    <a:pt x="0" y="151180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72567" b="-72567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Google Shape;335;p5"/>
            <p:cNvSpPr txBox="1"/>
            <p:nvPr/>
          </p:nvSpPr>
          <p:spPr>
            <a:xfrm>
              <a:off x="0" y="-47625"/>
              <a:ext cx="9509760" cy="1559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u="none" strike="noStrike" cap="non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→  </a:t>
              </a:r>
              <a:r>
                <a:rPr lang="en-US" sz="2200" b="1" i="0" u="none" strike="noStrike" cap="non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Built-in safety check:  </a:t>
              </a:r>
              <a:r>
                <a:rPr lang="en-US" sz="2200" b="0" i="0" u="none" strike="noStrike" cap="non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an on-device conflict checker blocks allergy and dose clashes before administration — a life-saver no medical-ID rival offers.</a:t>
              </a:r>
              <a:endParaRPr/>
            </a:p>
          </p:txBody>
        </p:sp>
      </p:grpSp>
      <p:grpSp>
        <p:nvGrpSpPr>
          <p:cNvPr id="336" name="Google Shape;336;p5"/>
          <p:cNvGrpSpPr/>
          <p:nvPr/>
        </p:nvGrpSpPr>
        <p:grpSpPr>
          <a:xfrm>
            <a:off x="914400" y="6803993"/>
            <a:ext cx="7132320" cy="1169575"/>
            <a:chOff x="0" y="-47625"/>
            <a:chExt cx="9509760" cy="1559433"/>
          </a:xfrm>
        </p:grpSpPr>
        <p:sp>
          <p:nvSpPr>
            <p:cNvPr id="337" name="Google Shape;337;p5"/>
            <p:cNvSpPr/>
            <p:nvPr/>
          </p:nvSpPr>
          <p:spPr>
            <a:xfrm>
              <a:off x="0" y="0"/>
              <a:ext cx="9509760" cy="1511808"/>
            </a:xfrm>
            <a:custGeom>
              <a:avLst/>
              <a:gdLst/>
              <a:ahLst/>
              <a:cxnLst/>
              <a:rect l="l" t="t" r="r" b="b"/>
              <a:pathLst>
                <a:path w="9509760" h="1511808" extrusionOk="0">
                  <a:moveTo>
                    <a:pt x="0" y="0"/>
                  </a:moveTo>
                  <a:lnTo>
                    <a:pt x="9509760" y="0"/>
                  </a:lnTo>
                  <a:lnTo>
                    <a:pt x="9509760" y="1511808"/>
                  </a:lnTo>
                  <a:lnTo>
                    <a:pt x="0" y="151180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72567" b="-72567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Google Shape;338;p5"/>
            <p:cNvSpPr txBox="1"/>
            <p:nvPr/>
          </p:nvSpPr>
          <p:spPr>
            <a:xfrm>
              <a:off x="0" y="-47625"/>
              <a:ext cx="9509760" cy="1559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u="none" strike="noStrike" cap="non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→  </a:t>
              </a:r>
              <a:r>
                <a:rPr lang="en-US" sz="2200" b="1" i="0" u="none" strike="noStrike" cap="non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Travels with the patient:  </a:t>
              </a:r>
              <a:r>
                <a:rPr lang="en-US" sz="2200" b="0" i="0" u="none" strike="noStrike" cap="non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responders write treatment back onto the tag as a portable chain-of-custody; each NTAG215 tag costs only a few rupees.</a:t>
              </a:r>
              <a:endParaRPr/>
            </a:p>
          </p:txBody>
        </p:sp>
      </p:grpSp>
      <p:grpSp>
        <p:nvGrpSpPr>
          <p:cNvPr id="339" name="Google Shape;339;p5"/>
          <p:cNvGrpSpPr/>
          <p:nvPr/>
        </p:nvGrpSpPr>
        <p:grpSpPr>
          <a:xfrm>
            <a:off x="9144000" y="1975961"/>
            <a:ext cx="8778240" cy="767239"/>
            <a:chOff x="0" y="-47625"/>
            <a:chExt cx="11704320" cy="1022985"/>
          </a:xfrm>
        </p:grpSpPr>
        <p:sp>
          <p:nvSpPr>
            <p:cNvPr id="340" name="Google Shape;340;p5"/>
            <p:cNvSpPr/>
            <p:nvPr/>
          </p:nvSpPr>
          <p:spPr>
            <a:xfrm>
              <a:off x="0" y="0"/>
              <a:ext cx="11704320" cy="975360"/>
            </a:xfrm>
            <a:custGeom>
              <a:avLst/>
              <a:gdLst/>
              <a:ahLst/>
              <a:cxnLst/>
              <a:rect l="l" t="t" r="r" b="b"/>
              <a:pathLst>
                <a:path w="11704320" h="975360" extrusionOk="0">
                  <a:moveTo>
                    <a:pt x="0" y="0"/>
                  </a:moveTo>
                  <a:lnTo>
                    <a:pt x="11704320" y="0"/>
                  </a:lnTo>
                  <a:lnTo>
                    <a:pt x="1170432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83820" b="-183820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Google Shape;341;p5"/>
            <p:cNvSpPr txBox="1"/>
            <p:nvPr/>
          </p:nvSpPr>
          <p:spPr>
            <a:xfrm>
              <a:off x="0" y="-47625"/>
              <a:ext cx="11704320" cy="10229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 b="1" i="0" u="none" strike="noStrike" cap="non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⚖  Vs Existing Solutions</a:t>
              </a:r>
              <a:endParaRPr/>
            </a:p>
          </p:txBody>
        </p:sp>
      </p:grpSp>
      <p:graphicFrame>
        <p:nvGraphicFramePr>
          <p:cNvPr id="342" name="Google Shape;342;p5"/>
          <p:cNvGraphicFramePr/>
          <p:nvPr/>
        </p:nvGraphicFramePr>
        <p:xfrm>
          <a:off x="9144000" y="2834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{72E0D90B-089A-4D06-9F38-3E99E80F544A}</a:tableStyleId>
              </a:tblPr>
              <a:tblGrid>
                <a:gridCol w="400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9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u="none" strike="noStrike" cap="none">
                          <a:solidFill>
                            <a:srgbClr val="1A2B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 sz="11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u="none" strike="noStrike" cap="none">
                          <a:solidFill>
                            <a:srgbClr val="1A2B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Existing Solutions</a:t>
                      </a:r>
                      <a:endParaRPr sz="11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u="none" strike="noStrike" cap="none">
                          <a:solidFill>
                            <a:srgbClr val="1A2B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Solution</a:t>
                      </a:r>
                      <a:endParaRPr sz="11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4A6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Works fully offline</a:t>
                      </a:r>
                      <a:endParaRPr sz="11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b="1" u="none" strike="noStrike" cap="none">
                          <a:solidFill>
                            <a:srgbClr val="E8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1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b="1" u="none" strike="noStrike" cap="none">
                          <a:solidFill>
                            <a:srgbClr val="2DB87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4A6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Affordability</a:t>
                      </a:r>
                      <a:endParaRPr sz="11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b="1" u="none" strike="noStrike" cap="none">
                          <a:solidFill>
                            <a:srgbClr val="F5A62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⚠</a:t>
                      </a:r>
                      <a:endParaRPr sz="11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b="1" u="none" strike="noStrike" cap="none">
                          <a:solidFill>
                            <a:srgbClr val="2DB87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4A6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Responder write-back</a:t>
                      </a:r>
                      <a:endParaRPr sz="11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b="1" u="none" strike="noStrike" cap="none">
                          <a:solidFill>
                            <a:srgbClr val="E8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1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b="1" u="none" strike="noStrike" cap="none">
                          <a:solidFill>
                            <a:srgbClr val="2DB87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olidFill>
                            <a:srgbClr val="4A6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Drug-conflict check</a:t>
                      </a:r>
                      <a:endParaRPr sz="11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b="1" u="none" strike="noStrike" cap="none">
                          <a:solidFill>
                            <a:srgbClr val="E8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1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b="1" u="none" strike="noStrike" cap="none">
                          <a:solidFill>
                            <a:srgbClr val="2DB87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A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3" name="Google Shape;343;p5"/>
          <p:cNvSpPr/>
          <p:nvPr/>
        </p:nvSpPr>
        <p:spPr>
          <a:xfrm>
            <a:off x="15798500" y="238800"/>
            <a:ext cx="2143125" cy="1475499"/>
          </a:xfrm>
          <a:custGeom>
            <a:avLst/>
            <a:gdLst/>
            <a:ahLst/>
            <a:cxnLst/>
            <a:rect l="l" t="t" r="r" b="b"/>
            <a:pathLst>
              <a:path w="2143125" h="1475499" extrusionOk="0">
                <a:moveTo>
                  <a:pt x="0" y="0"/>
                </a:moveTo>
                <a:lnTo>
                  <a:pt x="2143125" y="0"/>
                </a:lnTo>
                <a:lnTo>
                  <a:pt x="2143125" y="1475499"/>
                </a:lnTo>
                <a:lnTo>
                  <a:pt x="0" y="14754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700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348;p6"/>
          <p:cNvGrpSpPr/>
          <p:nvPr/>
        </p:nvGrpSpPr>
        <p:grpSpPr>
          <a:xfrm>
            <a:off x="640080" y="9609201"/>
            <a:ext cx="4572000" cy="485775"/>
            <a:chOff x="0" y="-38100"/>
            <a:chExt cx="6096000" cy="647700"/>
          </a:xfrm>
        </p:grpSpPr>
        <p:sp>
          <p:nvSpPr>
            <p:cNvPr id="349" name="Google Shape;349;p6"/>
            <p:cNvSpPr/>
            <p:nvPr/>
          </p:nvSpPr>
          <p:spPr>
            <a:xfrm>
              <a:off x="0" y="0"/>
              <a:ext cx="6096000" cy="609600"/>
            </a:xfrm>
            <a:custGeom>
              <a:avLst/>
              <a:gdLst/>
              <a:ahLst/>
              <a:cxnLst/>
              <a:rect l="l" t="t" r="r" b="b"/>
              <a:pathLst>
                <a:path w="6096000" h="609600" extrusionOk="0">
                  <a:moveTo>
                    <a:pt x="0" y="0"/>
                  </a:moveTo>
                  <a:lnTo>
                    <a:pt x="6096000" y="0"/>
                  </a:lnTo>
                  <a:lnTo>
                    <a:pt x="609600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44856" b="-144856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Google Shape;350;p6"/>
            <p:cNvSpPr txBox="1"/>
            <p:nvPr/>
          </p:nvSpPr>
          <p:spPr>
            <a:xfrm>
              <a:off x="0" y="-38100"/>
              <a:ext cx="60960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u="none" strike="noStrike" cap="non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© CODEAMBLE 2026</a:t>
              </a:r>
              <a:endParaRPr/>
            </a:p>
          </p:txBody>
        </p:sp>
      </p:grpSp>
      <p:grpSp>
        <p:nvGrpSpPr>
          <p:cNvPr id="351" name="Google Shape;351;p6"/>
          <p:cNvGrpSpPr/>
          <p:nvPr/>
        </p:nvGrpSpPr>
        <p:grpSpPr>
          <a:xfrm>
            <a:off x="6400800" y="9609201"/>
            <a:ext cx="5852160" cy="485775"/>
            <a:chOff x="0" y="-38100"/>
            <a:chExt cx="7802880" cy="647700"/>
          </a:xfrm>
        </p:grpSpPr>
        <p:sp>
          <p:nvSpPr>
            <p:cNvPr id="352" name="Google Shape;352;p6"/>
            <p:cNvSpPr/>
            <p:nvPr/>
          </p:nvSpPr>
          <p:spPr>
            <a:xfrm>
              <a:off x="0" y="0"/>
              <a:ext cx="7802880" cy="609600"/>
            </a:xfrm>
            <a:custGeom>
              <a:avLst/>
              <a:gdLst/>
              <a:ahLst/>
              <a:cxnLst/>
              <a:rect l="l" t="t" r="r" b="b"/>
              <a:pathLst>
                <a:path w="7802880" h="609600" extrusionOk="0">
                  <a:moveTo>
                    <a:pt x="0" y="0"/>
                  </a:moveTo>
                  <a:lnTo>
                    <a:pt x="7802880" y="0"/>
                  </a:lnTo>
                  <a:lnTo>
                    <a:pt x="780288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99401" b="-199401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Google Shape;353;p6"/>
            <p:cNvSpPr txBox="1"/>
            <p:nvPr/>
          </p:nvSpPr>
          <p:spPr>
            <a:xfrm>
              <a:off x="0" y="-38100"/>
              <a:ext cx="7802880" cy="64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u="none" strike="noStrike" cap="non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ZEN Club – </a:t>
              </a:r>
              <a:r>
                <a:rPr lang="en-US" sz="1700" b="1" i="0" u="none" strike="noStrike" cap="non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Zone of Engineering Innovators</a:t>
              </a:r>
              <a:endParaRPr/>
            </a:p>
          </p:txBody>
        </p:sp>
      </p:grpSp>
      <p:grpSp>
        <p:nvGrpSpPr>
          <p:cNvPr id="354" name="Google Shape;354;p6"/>
          <p:cNvGrpSpPr/>
          <p:nvPr/>
        </p:nvGrpSpPr>
        <p:grpSpPr>
          <a:xfrm>
            <a:off x="12984480" y="9609201"/>
            <a:ext cx="5120640" cy="485775"/>
            <a:chOff x="0" y="-38100"/>
            <a:chExt cx="6827520" cy="647700"/>
          </a:xfrm>
        </p:grpSpPr>
        <p:sp>
          <p:nvSpPr>
            <p:cNvPr id="355" name="Google Shape;355;p6"/>
            <p:cNvSpPr/>
            <p:nvPr/>
          </p:nvSpPr>
          <p:spPr>
            <a:xfrm>
              <a:off x="0" y="0"/>
              <a:ext cx="6827520" cy="609600"/>
            </a:xfrm>
            <a:custGeom>
              <a:avLst/>
              <a:gdLst/>
              <a:ahLst/>
              <a:cxnLst/>
              <a:rect l="l" t="t" r="r" b="b"/>
              <a:pathLst>
                <a:path w="6827520" h="609600" extrusionOk="0">
                  <a:moveTo>
                    <a:pt x="0" y="0"/>
                  </a:moveTo>
                  <a:lnTo>
                    <a:pt x="6827520" y="0"/>
                  </a:lnTo>
                  <a:lnTo>
                    <a:pt x="682752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68226" b="-168226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Google Shape;356;p6"/>
            <p:cNvSpPr txBox="1"/>
            <p:nvPr/>
          </p:nvSpPr>
          <p:spPr>
            <a:xfrm>
              <a:off x="0" y="-38100"/>
              <a:ext cx="6827520" cy="64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u="none" strike="noStrike" cap="non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contact@zoneofengineeringinnovators.com</a:t>
              </a:r>
              <a:endParaRPr/>
            </a:p>
          </p:txBody>
        </p:sp>
      </p:grpSp>
      <p:grpSp>
        <p:nvGrpSpPr>
          <p:cNvPr id="357" name="Google Shape;357;p6"/>
          <p:cNvGrpSpPr/>
          <p:nvPr/>
        </p:nvGrpSpPr>
        <p:grpSpPr>
          <a:xfrm>
            <a:off x="548640" y="215741"/>
            <a:ext cx="2011680" cy="1521619"/>
            <a:chOff x="0" y="-200025"/>
            <a:chExt cx="2682240" cy="2028825"/>
          </a:xfrm>
        </p:grpSpPr>
        <p:sp>
          <p:nvSpPr>
            <p:cNvPr id="358" name="Google Shape;358;p6"/>
            <p:cNvSpPr/>
            <p:nvPr/>
          </p:nvSpPr>
          <p:spPr>
            <a:xfrm>
              <a:off x="0" y="0"/>
              <a:ext cx="2682240" cy="1828800"/>
            </a:xfrm>
            <a:custGeom>
              <a:avLst/>
              <a:gdLst/>
              <a:ahLst/>
              <a:cxnLst/>
              <a:rect l="l" t="t" r="r" b="b"/>
              <a:pathLst>
                <a:path w="2682240" h="1828800" extrusionOk="0">
                  <a:moveTo>
                    <a:pt x="0" y="0"/>
                  </a:moveTo>
                  <a:lnTo>
                    <a:pt x="2682240" y="0"/>
                  </a:lnTo>
                  <a:lnTo>
                    <a:pt x="2682240" y="1828800"/>
                  </a:lnTo>
                  <a:lnTo>
                    <a:pt x="0" y="1828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37480" r="-37480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Google Shape;359;p6"/>
            <p:cNvSpPr txBox="1"/>
            <p:nvPr/>
          </p:nvSpPr>
          <p:spPr>
            <a:xfrm>
              <a:off x="0" y="-200025"/>
              <a:ext cx="2682240" cy="2028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99" b="1" i="0" u="none" strike="noStrike" cap="none">
                  <a:solidFill>
                    <a:srgbClr val="D0DFF0"/>
                  </a:solidFill>
                  <a:latin typeface="Calibri"/>
                  <a:ea typeface="Calibri"/>
                  <a:cs typeface="Calibri"/>
                  <a:sym typeface="Calibri"/>
                </a:rPr>
                <a:t>05</a:t>
              </a:r>
              <a:endParaRPr/>
            </a:p>
          </p:txBody>
        </p:sp>
      </p:grpSp>
      <p:grpSp>
        <p:nvGrpSpPr>
          <p:cNvPr id="360" name="Google Shape;360;p6"/>
          <p:cNvGrpSpPr/>
          <p:nvPr/>
        </p:nvGrpSpPr>
        <p:grpSpPr>
          <a:xfrm>
            <a:off x="2377440" y="433483"/>
            <a:ext cx="12801600" cy="992981"/>
            <a:chOff x="0" y="-104775"/>
            <a:chExt cx="17068800" cy="1323975"/>
          </a:xfrm>
        </p:grpSpPr>
        <p:sp>
          <p:nvSpPr>
            <p:cNvPr id="361" name="Google Shape;361;p6"/>
            <p:cNvSpPr/>
            <p:nvPr/>
          </p:nvSpPr>
          <p:spPr>
            <a:xfrm>
              <a:off x="0" y="0"/>
              <a:ext cx="17068800" cy="1219200"/>
            </a:xfrm>
            <a:custGeom>
              <a:avLst/>
              <a:gdLst/>
              <a:ahLst/>
              <a:cxnLst/>
              <a:rect l="l" t="t" r="r" b="b"/>
              <a:pathLst>
                <a:path w="17068800" h="1219200" extrusionOk="0">
                  <a:moveTo>
                    <a:pt x="0" y="0"/>
                  </a:moveTo>
                  <a:lnTo>
                    <a:pt x="17068800" y="0"/>
                  </a:lnTo>
                  <a:lnTo>
                    <a:pt x="1706880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22777" b="-222777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Google Shape;362;p6"/>
            <p:cNvSpPr txBox="1"/>
            <p:nvPr/>
          </p:nvSpPr>
          <p:spPr>
            <a:xfrm>
              <a:off x="0" y="-104775"/>
              <a:ext cx="17068800" cy="1323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200" b="1" i="0" u="none" strike="noStrike" cap="non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Impact &amp; Benefits</a:t>
              </a:r>
              <a:endParaRPr/>
            </a:p>
          </p:txBody>
        </p:sp>
      </p:grpSp>
      <p:grpSp>
        <p:nvGrpSpPr>
          <p:cNvPr id="363" name="Google Shape;363;p6"/>
          <p:cNvGrpSpPr/>
          <p:nvPr/>
        </p:nvGrpSpPr>
        <p:grpSpPr>
          <a:xfrm>
            <a:off x="2377440" y="1288161"/>
            <a:ext cx="12801600" cy="540639"/>
            <a:chOff x="0" y="-38100"/>
            <a:chExt cx="17068800" cy="720852"/>
          </a:xfrm>
        </p:grpSpPr>
        <p:sp>
          <p:nvSpPr>
            <p:cNvPr id="364" name="Google Shape;364;p6"/>
            <p:cNvSpPr/>
            <p:nvPr/>
          </p:nvSpPr>
          <p:spPr>
            <a:xfrm>
              <a:off x="0" y="0"/>
              <a:ext cx="17068800" cy="682752"/>
            </a:xfrm>
            <a:custGeom>
              <a:avLst/>
              <a:gdLst/>
              <a:ahLst/>
              <a:cxnLst/>
              <a:rect l="l" t="t" r="r" b="b"/>
              <a:pathLst>
                <a:path w="17068800" h="682752" extrusionOk="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37140" b="-437140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Google Shape;365;p6"/>
            <p:cNvSpPr txBox="1"/>
            <p:nvPr/>
          </p:nvSpPr>
          <p:spPr>
            <a:xfrm>
              <a:off x="0" y="-38100"/>
              <a:ext cx="17068800" cy="7208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Who benefits and how will you measure success?</a:t>
              </a:r>
              <a:endParaRPr/>
            </a:p>
          </p:txBody>
        </p:sp>
      </p:grpSp>
      <p:sp>
        <p:nvSpPr>
          <p:cNvPr id="366" name="Google Shape;366;p6"/>
          <p:cNvSpPr/>
          <p:nvPr/>
        </p:nvSpPr>
        <p:spPr>
          <a:xfrm>
            <a:off x="535943" y="1998983"/>
            <a:ext cx="17216151" cy="2037111"/>
          </a:xfrm>
          <a:custGeom>
            <a:avLst/>
            <a:gdLst/>
            <a:ahLst/>
            <a:cxnLst/>
            <a:rect l="l" t="t" r="r" b="b"/>
            <a:pathLst>
              <a:path w="22954869" h="2716149" extrusionOk="0">
                <a:moveTo>
                  <a:pt x="0" y="296291"/>
                </a:moveTo>
                <a:cubicBezTo>
                  <a:pt x="0" y="132715"/>
                  <a:pt x="132715" y="0"/>
                  <a:pt x="296291" y="0"/>
                </a:cubicBezTo>
                <a:lnTo>
                  <a:pt x="22658578" y="0"/>
                </a:lnTo>
                <a:cubicBezTo>
                  <a:pt x="22822281" y="0"/>
                  <a:pt x="22954869" y="132715"/>
                  <a:pt x="22954869" y="296291"/>
                </a:cubicBezTo>
                <a:lnTo>
                  <a:pt x="22954869" y="2419858"/>
                </a:lnTo>
                <a:cubicBezTo>
                  <a:pt x="22954869" y="2583561"/>
                  <a:pt x="22822154" y="2716149"/>
                  <a:pt x="22658578" y="2716149"/>
                </a:cubicBezTo>
                <a:lnTo>
                  <a:pt x="296291" y="2716149"/>
                </a:lnTo>
                <a:cubicBezTo>
                  <a:pt x="132715" y="2716149"/>
                  <a:pt x="0" y="2583434"/>
                  <a:pt x="0" y="2419858"/>
                </a:cubicBezTo>
                <a:close/>
              </a:path>
            </a:pathLst>
          </a:custGeom>
          <a:solidFill>
            <a:srgbClr val="FFFFFF"/>
          </a:solidFill>
          <a:ln w="25400" cap="sq" cmpd="sng">
            <a:solidFill>
              <a:srgbClr val="E2EAF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7" name="Google Shape;367;p6"/>
          <p:cNvGrpSpPr/>
          <p:nvPr/>
        </p:nvGrpSpPr>
        <p:grpSpPr>
          <a:xfrm>
            <a:off x="1005840" y="2122265"/>
            <a:ext cx="16093440" cy="675799"/>
            <a:chOff x="0" y="-47625"/>
            <a:chExt cx="21457920" cy="901065"/>
          </a:xfrm>
        </p:grpSpPr>
        <p:sp>
          <p:nvSpPr>
            <p:cNvPr id="368" name="Google Shape;368;p6"/>
            <p:cNvSpPr/>
            <p:nvPr/>
          </p:nvSpPr>
          <p:spPr>
            <a:xfrm>
              <a:off x="0" y="0"/>
              <a:ext cx="21457920" cy="853440"/>
            </a:xfrm>
            <a:custGeom>
              <a:avLst/>
              <a:gdLst/>
              <a:ahLst/>
              <a:cxnLst/>
              <a:rect l="l" t="t" r="r" b="b"/>
              <a:pathLst>
                <a:path w="21457920" h="853440" extrusionOk="0">
                  <a:moveTo>
                    <a:pt x="0" y="0"/>
                  </a:moveTo>
                  <a:lnTo>
                    <a:pt x="21457920" y="0"/>
                  </a:lnTo>
                  <a:lnTo>
                    <a:pt x="2145792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439908" b="-439908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Google Shape;369;p6"/>
            <p:cNvSpPr txBox="1"/>
            <p:nvPr/>
          </p:nvSpPr>
          <p:spPr>
            <a:xfrm>
              <a:off x="0" y="-47625"/>
              <a:ext cx="21457920" cy="9010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 b="1" i="0" u="none" strike="noStrike" cap="non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🌱  Expected Impact</a:t>
              </a:r>
              <a:endParaRPr/>
            </a:p>
          </p:txBody>
        </p:sp>
      </p:grpSp>
      <p:grpSp>
        <p:nvGrpSpPr>
          <p:cNvPr id="370" name="Google Shape;370;p6"/>
          <p:cNvGrpSpPr/>
          <p:nvPr/>
        </p:nvGrpSpPr>
        <p:grpSpPr>
          <a:xfrm>
            <a:off x="1005840" y="2762345"/>
            <a:ext cx="16093440" cy="950119"/>
            <a:chOff x="0" y="-47625"/>
            <a:chExt cx="21457920" cy="1266825"/>
          </a:xfrm>
        </p:grpSpPr>
        <p:sp>
          <p:nvSpPr>
            <p:cNvPr id="371" name="Google Shape;371;p6"/>
            <p:cNvSpPr/>
            <p:nvPr/>
          </p:nvSpPr>
          <p:spPr>
            <a:xfrm>
              <a:off x="0" y="0"/>
              <a:ext cx="21457920" cy="1219200"/>
            </a:xfrm>
            <a:custGeom>
              <a:avLst/>
              <a:gdLst/>
              <a:ahLst/>
              <a:cxnLst/>
              <a:rect l="l" t="t" r="r" b="b"/>
              <a:pathLst>
                <a:path w="21457920" h="1219200" extrusionOk="0">
                  <a:moveTo>
                    <a:pt x="0" y="0"/>
                  </a:moveTo>
                  <a:lnTo>
                    <a:pt x="21457920" y="0"/>
                  </a:lnTo>
                  <a:lnTo>
                    <a:pt x="2145792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92936" b="-292936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Google Shape;372;p6"/>
            <p:cNvSpPr txBox="1"/>
            <p:nvPr/>
          </p:nvSpPr>
          <p:spPr>
            <a:xfrm>
              <a:off x="0" y="-47625"/>
              <a:ext cx="21457920" cy="1266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0" i="0" u="none" strike="noStrike" cap="non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Faster, safer emergency care for anyone who cannot speak for themselves — with fewer preventable drug reactions and no duplicated treatment. Because it needs no network, the same record works in disaster zones, rural areas and ambulances alike. Success = decrypt-to-display in under one second, offline, with every field a responder needs.</a:t>
              </a:r>
              <a:endParaRPr/>
            </a:p>
          </p:txBody>
        </p:sp>
      </p:grpSp>
      <p:sp>
        <p:nvSpPr>
          <p:cNvPr id="373" name="Google Shape;373;p6"/>
          <p:cNvSpPr/>
          <p:nvPr/>
        </p:nvSpPr>
        <p:spPr>
          <a:xfrm>
            <a:off x="535943" y="4412999"/>
            <a:ext cx="8255031" cy="1854231"/>
          </a:xfrm>
          <a:custGeom>
            <a:avLst/>
            <a:gdLst/>
            <a:ahLst/>
            <a:cxnLst/>
            <a:rect l="l" t="t" r="r" b="b"/>
            <a:pathLst>
              <a:path w="11006709" h="2472309" extrusionOk="0">
                <a:moveTo>
                  <a:pt x="0" y="247269"/>
                </a:moveTo>
                <a:cubicBezTo>
                  <a:pt x="0" y="110744"/>
                  <a:pt x="110744" y="0"/>
                  <a:pt x="247269" y="0"/>
                </a:cubicBezTo>
                <a:lnTo>
                  <a:pt x="10759440" y="0"/>
                </a:lnTo>
                <a:cubicBezTo>
                  <a:pt x="10895965" y="0"/>
                  <a:pt x="11006709" y="110744"/>
                  <a:pt x="11006709" y="247269"/>
                </a:cubicBezTo>
                <a:lnTo>
                  <a:pt x="11006709" y="2225040"/>
                </a:lnTo>
                <a:cubicBezTo>
                  <a:pt x="11006709" y="2361565"/>
                  <a:pt x="10895965" y="2472309"/>
                  <a:pt x="10759440" y="2472309"/>
                </a:cubicBezTo>
                <a:lnTo>
                  <a:pt x="247269" y="2472309"/>
                </a:lnTo>
                <a:cubicBezTo>
                  <a:pt x="110744" y="2472309"/>
                  <a:pt x="0" y="2361565"/>
                  <a:pt x="0" y="2225040"/>
                </a:cubicBezTo>
                <a:close/>
              </a:path>
            </a:pathLst>
          </a:custGeom>
          <a:solidFill>
            <a:srgbClr val="FFFFFF"/>
          </a:solidFill>
          <a:ln w="25400" cap="sq" cmpd="sng">
            <a:solidFill>
              <a:srgbClr val="E2EAF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4" name="Google Shape;374;p6"/>
          <p:cNvGrpSpPr/>
          <p:nvPr/>
        </p:nvGrpSpPr>
        <p:grpSpPr>
          <a:xfrm>
            <a:off x="914400" y="4580001"/>
            <a:ext cx="7315200" cy="668655"/>
            <a:chOff x="0" y="-38100"/>
            <a:chExt cx="9753600" cy="891540"/>
          </a:xfrm>
        </p:grpSpPr>
        <p:sp>
          <p:nvSpPr>
            <p:cNvPr id="375" name="Google Shape;375;p6"/>
            <p:cNvSpPr/>
            <p:nvPr/>
          </p:nvSpPr>
          <p:spPr>
            <a:xfrm>
              <a:off x="0" y="0"/>
              <a:ext cx="9753600" cy="853440"/>
            </a:xfrm>
            <a:custGeom>
              <a:avLst/>
              <a:gdLst/>
              <a:ahLst/>
              <a:cxnLst/>
              <a:rect l="l" t="t" r="r" b="b"/>
              <a:pathLst>
                <a:path w="9753600" h="853440" extrusionOk="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72677" b="-172677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Google Shape;376;p6"/>
            <p:cNvSpPr txBox="1"/>
            <p:nvPr/>
          </p:nvSpPr>
          <p:spPr>
            <a:xfrm>
              <a:off x="0" y="-38100"/>
              <a:ext cx="9753600" cy="8915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👤  Target Users</a:t>
              </a:r>
              <a:endParaRPr/>
            </a:p>
          </p:txBody>
        </p:sp>
      </p:grpSp>
      <p:grpSp>
        <p:nvGrpSpPr>
          <p:cNvPr id="377" name="Google Shape;377;p6"/>
          <p:cNvGrpSpPr/>
          <p:nvPr/>
        </p:nvGrpSpPr>
        <p:grpSpPr>
          <a:xfrm>
            <a:off x="914400" y="5231225"/>
            <a:ext cx="7498080" cy="858679"/>
            <a:chOff x="0" y="-47625"/>
            <a:chExt cx="9997440" cy="1144905"/>
          </a:xfrm>
        </p:grpSpPr>
        <p:sp>
          <p:nvSpPr>
            <p:cNvPr id="378" name="Google Shape;378;p6"/>
            <p:cNvSpPr/>
            <p:nvPr/>
          </p:nvSpPr>
          <p:spPr>
            <a:xfrm>
              <a:off x="0" y="0"/>
              <a:ext cx="9997440" cy="1097280"/>
            </a:xfrm>
            <a:custGeom>
              <a:avLst/>
              <a:gdLst/>
              <a:ahLst/>
              <a:cxnLst/>
              <a:rect l="l" t="t" r="r" b="b"/>
              <a:pathLst>
                <a:path w="9997440" h="1097280" extrusionOk="0">
                  <a:moveTo>
                    <a:pt x="0" y="0"/>
                  </a:moveTo>
                  <a:lnTo>
                    <a:pt x="9997440" y="0"/>
                  </a:lnTo>
                  <a:lnTo>
                    <a:pt x="999744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27532" b="-127532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Google Shape;379;p6"/>
            <p:cNvSpPr txBox="1"/>
            <p:nvPr/>
          </p:nvSpPr>
          <p:spPr>
            <a:xfrm>
              <a:off x="0" y="-47625"/>
              <a:ext cx="9997440" cy="1144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Emergency &amp; chronic patients, the elderly, and first responders / paramedics.</a:t>
              </a:r>
              <a:endParaRPr/>
            </a:p>
          </p:txBody>
        </p:sp>
      </p:grpSp>
      <p:sp>
        <p:nvSpPr>
          <p:cNvPr id="380" name="Google Shape;380;p6"/>
          <p:cNvSpPr/>
          <p:nvPr/>
        </p:nvSpPr>
        <p:spPr>
          <a:xfrm>
            <a:off x="9131303" y="4412999"/>
            <a:ext cx="8255031" cy="1854231"/>
          </a:xfrm>
          <a:custGeom>
            <a:avLst/>
            <a:gdLst/>
            <a:ahLst/>
            <a:cxnLst/>
            <a:rect l="l" t="t" r="r" b="b"/>
            <a:pathLst>
              <a:path w="11006709" h="2472309" extrusionOk="0">
                <a:moveTo>
                  <a:pt x="0" y="247269"/>
                </a:moveTo>
                <a:cubicBezTo>
                  <a:pt x="0" y="110744"/>
                  <a:pt x="110744" y="0"/>
                  <a:pt x="247269" y="0"/>
                </a:cubicBezTo>
                <a:lnTo>
                  <a:pt x="10759440" y="0"/>
                </a:lnTo>
                <a:cubicBezTo>
                  <a:pt x="10895965" y="0"/>
                  <a:pt x="11006709" y="110744"/>
                  <a:pt x="11006709" y="247269"/>
                </a:cubicBezTo>
                <a:lnTo>
                  <a:pt x="11006709" y="2225040"/>
                </a:lnTo>
                <a:cubicBezTo>
                  <a:pt x="11006709" y="2361565"/>
                  <a:pt x="10895965" y="2472309"/>
                  <a:pt x="10759440" y="2472309"/>
                </a:cubicBezTo>
                <a:lnTo>
                  <a:pt x="247269" y="2472309"/>
                </a:lnTo>
                <a:cubicBezTo>
                  <a:pt x="110744" y="2472309"/>
                  <a:pt x="0" y="2361565"/>
                  <a:pt x="0" y="2225040"/>
                </a:cubicBezTo>
                <a:close/>
              </a:path>
            </a:pathLst>
          </a:custGeom>
          <a:solidFill>
            <a:srgbClr val="FFFFFF"/>
          </a:solidFill>
          <a:ln w="25400" cap="sq" cmpd="sng">
            <a:solidFill>
              <a:srgbClr val="E2EAF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1" name="Google Shape;381;p6"/>
          <p:cNvGrpSpPr/>
          <p:nvPr/>
        </p:nvGrpSpPr>
        <p:grpSpPr>
          <a:xfrm>
            <a:off x="9509760" y="4580001"/>
            <a:ext cx="7315200" cy="668655"/>
            <a:chOff x="0" y="-38100"/>
            <a:chExt cx="9753600" cy="891540"/>
          </a:xfrm>
        </p:grpSpPr>
        <p:sp>
          <p:nvSpPr>
            <p:cNvPr id="382" name="Google Shape;382;p6"/>
            <p:cNvSpPr/>
            <p:nvPr/>
          </p:nvSpPr>
          <p:spPr>
            <a:xfrm>
              <a:off x="0" y="0"/>
              <a:ext cx="9753600" cy="853440"/>
            </a:xfrm>
            <a:custGeom>
              <a:avLst/>
              <a:gdLst/>
              <a:ahLst/>
              <a:cxnLst/>
              <a:rect l="l" t="t" r="r" b="b"/>
              <a:pathLst>
                <a:path w="9753600" h="853440" extrusionOk="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350000" b="-350000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Google Shape;383;p6"/>
            <p:cNvSpPr txBox="1"/>
            <p:nvPr/>
          </p:nvSpPr>
          <p:spPr>
            <a:xfrm>
              <a:off x="0" y="-38100"/>
              <a:ext cx="9753600" cy="8915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📈  Scale / Reach</a:t>
              </a:r>
              <a:endParaRPr/>
            </a:p>
          </p:txBody>
        </p:sp>
      </p:grpSp>
      <p:grpSp>
        <p:nvGrpSpPr>
          <p:cNvPr id="384" name="Google Shape;384;p6"/>
          <p:cNvGrpSpPr/>
          <p:nvPr/>
        </p:nvGrpSpPr>
        <p:grpSpPr>
          <a:xfrm>
            <a:off x="9509760" y="5231225"/>
            <a:ext cx="7498080" cy="858679"/>
            <a:chOff x="0" y="-47625"/>
            <a:chExt cx="9997440" cy="1144905"/>
          </a:xfrm>
        </p:grpSpPr>
        <p:sp>
          <p:nvSpPr>
            <p:cNvPr id="385" name="Google Shape;385;p6"/>
            <p:cNvSpPr/>
            <p:nvPr/>
          </p:nvSpPr>
          <p:spPr>
            <a:xfrm>
              <a:off x="0" y="0"/>
              <a:ext cx="9997440" cy="1097280"/>
            </a:xfrm>
            <a:custGeom>
              <a:avLst/>
              <a:gdLst/>
              <a:ahLst/>
              <a:cxnLst/>
              <a:rect l="l" t="t" r="r" b="b"/>
              <a:pathLst>
                <a:path w="9997440" h="1097280" extrusionOk="0">
                  <a:moveTo>
                    <a:pt x="0" y="0"/>
                  </a:moveTo>
                  <a:lnTo>
                    <a:pt x="9997440" y="0"/>
                  </a:lnTo>
                  <a:lnTo>
                    <a:pt x="999744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27532" b="-127532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Google Shape;386;p6"/>
            <p:cNvSpPr txBox="1"/>
            <p:nvPr/>
          </p:nvSpPr>
          <p:spPr>
            <a:xfrm>
              <a:off x="0" y="-47625"/>
              <a:ext cx="9997440" cy="1144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Any NFC-capable phone — billions of devices; cent-cost tags deployable even in low-infrastructure regions.</a:t>
              </a:r>
              <a:endParaRPr/>
            </a:p>
          </p:txBody>
        </p:sp>
      </p:grpSp>
      <p:sp>
        <p:nvSpPr>
          <p:cNvPr id="387" name="Google Shape;387;p6"/>
          <p:cNvSpPr/>
          <p:nvPr/>
        </p:nvSpPr>
        <p:spPr>
          <a:xfrm>
            <a:off x="535943" y="6845303"/>
            <a:ext cx="8255031" cy="1854231"/>
          </a:xfrm>
          <a:custGeom>
            <a:avLst/>
            <a:gdLst/>
            <a:ahLst/>
            <a:cxnLst/>
            <a:rect l="l" t="t" r="r" b="b"/>
            <a:pathLst>
              <a:path w="11006709" h="2472309" extrusionOk="0">
                <a:moveTo>
                  <a:pt x="0" y="247269"/>
                </a:moveTo>
                <a:cubicBezTo>
                  <a:pt x="0" y="110744"/>
                  <a:pt x="110744" y="0"/>
                  <a:pt x="247269" y="0"/>
                </a:cubicBezTo>
                <a:lnTo>
                  <a:pt x="10759440" y="0"/>
                </a:lnTo>
                <a:cubicBezTo>
                  <a:pt x="10895965" y="0"/>
                  <a:pt x="11006709" y="110744"/>
                  <a:pt x="11006709" y="247269"/>
                </a:cubicBezTo>
                <a:lnTo>
                  <a:pt x="11006709" y="2225040"/>
                </a:lnTo>
                <a:cubicBezTo>
                  <a:pt x="11006709" y="2361565"/>
                  <a:pt x="10895965" y="2472309"/>
                  <a:pt x="10759440" y="2472309"/>
                </a:cubicBezTo>
                <a:lnTo>
                  <a:pt x="247269" y="2472309"/>
                </a:lnTo>
                <a:cubicBezTo>
                  <a:pt x="110744" y="2472309"/>
                  <a:pt x="0" y="2361565"/>
                  <a:pt x="0" y="2225040"/>
                </a:cubicBezTo>
                <a:close/>
              </a:path>
            </a:pathLst>
          </a:custGeom>
          <a:solidFill>
            <a:srgbClr val="FFFFFF"/>
          </a:solidFill>
          <a:ln w="25400" cap="sq" cmpd="sng">
            <a:solidFill>
              <a:srgbClr val="E2EAF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8" name="Google Shape;388;p6"/>
          <p:cNvGrpSpPr/>
          <p:nvPr/>
        </p:nvGrpSpPr>
        <p:grpSpPr>
          <a:xfrm>
            <a:off x="914400" y="7012305"/>
            <a:ext cx="7315200" cy="668655"/>
            <a:chOff x="0" y="-38100"/>
            <a:chExt cx="9753600" cy="891540"/>
          </a:xfrm>
        </p:grpSpPr>
        <p:sp>
          <p:nvSpPr>
            <p:cNvPr id="389" name="Google Shape;389;p6"/>
            <p:cNvSpPr/>
            <p:nvPr/>
          </p:nvSpPr>
          <p:spPr>
            <a:xfrm>
              <a:off x="0" y="0"/>
              <a:ext cx="9753600" cy="853440"/>
            </a:xfrm>
            <a:custGeom>
              <a:avLst/>
              <a:gdLst/>
              <a:ahLst/>
              <a:cxnLst/>
              <a:rect l="l" t="t" r="r" b="b"/>
              <a:pathLst>
                <a:path w="9753600" h="853440" extrusionOk="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72677" b="-172677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Google Shape;390;p6"/>
            <p:cNvSpPr txBox="1"/>
            <p:nvPr/>
          </p:nvSpPr>
          <p:spPr>
            <a:xfrm>
              <a:off x="0" y="-38100"/>
              <a:ext cx="9753600" cy="8915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💰  Economic Impact</a:t>
              </a:r>
              <a:endParaRPr/>
            </a:p>
          </p:txBody>
        </p:sp>
      </p:grpSp>
      <p:grpSp>
        <p:nvGrpSpPr>
          <p:cNvPr id="391" name="Google Shape;391;p6"/>
          <p:cNvGrpSpPr/>
          <p:nvPr/>
        </p:nvGrpSpPr>
        <p:grpSpPr>
          <a:xfrm>
            <a:off x="914400" y="7663529"/>
            <a:ext cx="7498080" cy="858679"/>
            <a:chOff x="0" y="-47625"/>
            <a:chExt cx="9997440" cy="1144905"/>
          </a:xfrm>
        </p:grpSpPr>
        <p:sp>
          <p:nvSpPr>
            <p:cNvPr id="392" name="Google Shape;392;p6"/>
            <p:cNvSpPr/>
            <p:nvPr/>
          </p:nvSpPr>
          <p:spPr>
            <a:xfrm>
              <a:off x="0" y="0"/>
              <a:ext cx="9997440" cy="1097280"/>
            </a:xfrm>
            <a:custGeom>
              <a:avLst/>
              <a:gdLst/>
              <a:ahLst/>
              <a:cxnLst/>
              <a:rect l="l" t="t" r="r" b="b"/>
              <a:pathLst>
                <a:path w="9997440" h="1097280" extrusionOk="0">
                  <a:moveTo>
                    <a:pt x="0" y="0"/>
                  </a:moveTo>
                  <a:lnTo>
                    <a:pt x="9997440" y="0"/>
                  </a:lnTo>
                  <a:lnTo>
                    <a:pt x="999744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27532" b="-127532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Google Shape;393;p6"/>
            <p:cNvSpPr txBox="1"/>
            <p:nvPr/>
          </p:nvSpPr>
          <p:spPr>
            <a:xfrm>
              <a:off x="0" y="-47625"/>
              <a:ext cx="9997440" cy="1144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Cuts costly adverse-drug-event care; tags cost a few rupees; tiered plans (Free / ₹999 Premium / ₹1999 B2B).</a:t>
              </a:r>
              <a:endParaRPr/>
            </a:p>
          </p:txBody>
        </p:sp>
      </p:grpSp>
      <p:sp>
        <p:nvSpPr>
          <p:cNvPr id="394" name="Google Shape;394;p6"/>
          <p:cNvSpPr/>
          <p:nvPr/>
        </p:nvSpPr>
        <p:spPr>
          <a:xfrm>
            <a:off x="9131303" y="6845303"/>
            <a:ext cx="8255031" cy="1854231"/>
          </a:xfrm>
          <a:custGeom>
            <a:avLst/>
            <a:gdLst/>
            <a:ahLst/>
            <a:cxnLst/>
            <a:rect l="l" t="t" r="r" b="b"/>
            <a:pathLst>
              <a:path w="11006709" h="2472309" extrusionOk="0">
                <a:moveTo>
                  <a:pt x="0" y="247269"/>
                </a:moveTo>
                <a:cubicBezTo>
                  <a:pt x="0" y="110744"/>
                  <a:pt x="110744" y="0"/>
                  <a:pt x="247269" y="0"/>
                </a:cubicBezTo>
                <a:lnTo>
                  <a:pt x="10759440" y="0"/>
                </a:lnTo>
                <a:cubicBezTo>
                  <a:pt x="10895965" y="0"/>
                  <a:pt x="11006709" y="110744"/>
                  <a:pt x="11006709" y="247269"/>
                </a:cubicBezTo>
                <a:lnTo>
                  <a:pt x="11006709" y="2225040"/>
                </a:lnTo>
                <a:cubicBezTo>
                  <a:pt x="11006709" y="2361565"/>
                  <a:pt x="10895965" y="2472309"/>
                  <a:pt x="10759440" y="2472309"/>
                </a:cubicBezTo>
                <a:lnTo>
                  <a:pt x="247269" y="2472309"/>
                </a:lnTo>
                <a:cubicBezTo>
                  <a:pt x="110744" y="2472309"/>
                  <a:pt x="0" y="2361565"/>
                  <a:pt x="0" y="2225040"/>
                </a:cubicBezTo>
                <a:close/>
              </a:path>
            </a:pathLst>
          </a:custGeom>
          <a:solidFill>
            <a:srgbClr val="FFFFFF"/>
          </a:solidFill>
          <a:ln w="25400" cap="sq" cmpd="sng">
            <a:solidFill>
              <a:srgbClr val="E2EAF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5" name="Google Shape;395;p6"/>
          <p:cNvGrpSpPr/>
          <p:nvPr/>
        </p:nvGrpSpPr>
        <p:grpSpPr>
          <a:xfrm>
            <a:off x="9509760" y="7012305"/>
            <a:ext cx="7315200" cy="668655"/>
            <a:chOff x="0" y="-38100"/>
            <a:chExt cx="9753600" cy="891540"/>
          </a:xfrm>
        </p:grpSpPr>
        <p:sp>
          <p:nvSpPr>
            <p:cNvPr id="396" name="Google Shape;396;p6"/>
            <p:cNvSpPr/>
            <p:nvPr/>
          </p:nvSpPr>
          <p:spPr>
            <a:xfrm>
              <a:off x="0" y="0"/>
              <a:ext cx="9753600" cy="853440"/>
            </a:xfrm>
            <a:custGeom>
              <a:avLst/>
              <a:gdLst/>
              <a:ahLst/>
              <a:cxnLst/>
              <a:rect l="l" t="t" r="r" b="b"/>
              <a:pathLst>
                <a:path w="9753600" h="853440" extrusionOk="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72677" b="-172677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Google Shape;397;p6"/>
            <p:cNvSpPr txBox="1"/>
            <p:nvPr/>
          </p:nvSpPr>
          <p:spPr>
            <a:xfrm>
              <a:off x="0" y="-38100"/>
              <a:ext cx="9753600" cy="8915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1A2B45"/>
                  </a:solidFill>
                  <a:latin typeface="Calibri"/>
                  <a:ea typeface="Calibri"/>
                  <a:cs typeface="Calibri"/>
                  <a:sym typeface="Calibri"/>
                </a:rPr>
                <a:t>🌍  Social Impact</a:t>
              </a:r>
              <a:endParaRPr/>
            </a:p>
          </p:txBody>
        </p:sp>
      </p:grpSp>
      <p:grpSp>
        <p:nvGrpSpPr>
          <p:cNvPr id="398" name="Google Shape;398;p6"/>
          <p:cNvGrpSpPr/>
          <p:nvPr/>
        </p:nvGrpSpPr>
        <p:grpSpPr>
          <a:xfrm>
            <a:off x="9509760" y="7663529"/>
            <a:ext cx="7498080" cy="858679"/>
            <a:chOff x="0" y="-47625"/>
            <a:chExt cx="9997440" cy="1144905"/>
          </a:xfrm>
        </p:grpSpPr>
        <p:sp>
          <p:nvSpPr>
            <p:cNvPr id="399" name="Google Shape;399;p6"/>
            <p:cNvSpPr/>
            <p:nvPr/>
          </p:nvSpPr>
          <p:spPr>
            <a:xfrm>
              <a:off x="0" y="0"/>
              <a:ext cx="9997440" cy="1097280"/>
            </a:xfrm>
            <a:custGeom>
              <a:avLst/>
              <a:gdLst/>
              <a:ahLst/>
              <a:cxnLst/>
              <a:rect l="l" t="t" r="r" b="b"/>
              <a:pathLst>
                <a:path w="9997440" h="1097280" extrusionOk="0">
                  <a:moveTo>
                    <a:pt x="0" y="0"/>
                  </a:moveTo>
                  <a:lnTo>
                    <a:pt x="9997440" y="0"/>
                  </a:lnTo>
                  <a:lnTo>
                    <a:pt x="999744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27532" b="-127532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Google Shape;400;p6"/>
            <p:cNvSpPr txBox="1"/>
            <p:nvPr/>
          </p:nvSpPr>
          <p:spPr>
            <a:xfrm>
              <a:off x="0" y="-47625"/>
              <a:ext cx="9997440" cy="1144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u="none" strike="noStrike" cap="non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Advances SDG 3 (Good Health) and personal health-data sovereignty — equitable emergency care where networks don't reach.</a:t>
              </a:r>
              <a:endParaRPr/>
            </a:p>
          </p:txBody>
        </p:sp>
      </p:grpSp>
      <p:sp>
        <p:nvSpPr>
          <p:cNvPr id="401" name="Google Shape;401;p6"/>
          <p:cNvSpPr/>
          <p:nvPr/>
        </p:nvSpPr>
        <p:spPr>
          <a:xfrm>
            <a:off x="15798500" y="238800"/>
            <a:ext cx="2143125" cy="1475499"/>
          </a:xfrm>
          <a:custGeom>
            <a:avLst/>
            <a:gdLst/>
            <a:ahLst/>
            <a:cxnLst/>
            <a:rect l="l" t="t" r="r" b="b"/>
            <a:pathLst>
              <a:path w="2143125" h="1475499" extrusionOk="0">
                <a:moveTo>
                  <a:pt x="0" y="0"/>
                </a:moveTo>
                <a:lnTo>
                  <a:pt x="2143125" y="0"/>
                </a:lnTo>
                <a:lnTo>
                  <a:pt x="2143125" y="1475499"/>
                </a:lnTo>
                <a:lnTo>
                  <a:pt x="0" y="14754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700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6" name="Google Shape;406;p7"/>
          <p:cNvGrpSpPr/>
          <p:nvPr/>
        </p:nvGrpSpPr>
        <p:grpSpPr>
          <a:xfrm>
            <a:off x="640080" y="9609201"/>
            <a:ext cx="4572000" cy="485775"/>
            <a:chOff x="0" y="-38100"/>
            <a:chExt cx="6096000" cy="647700"/>
          </a:xfrm>
        </p:grpSpPr>
        <p:sp>
          <p:nvSpPr>
            <p:cNvPr id="407" name="Google Shape;407;p7"/>
            <p:cNvSpPr/>
            <p:nvPr/>
          </p:nvSpPr>
          <p:spPr>
            <a:xfrm>
              <a:off x="0" y="0"/>
              <a:ext cx="6096000" cy="609600"/>
            </a:xfrm>
            <a:custGeom>
              <a:avLst/>
              <a:gdLst/>
              <a:ahLst/>
              <a:cxnLst/>
              <a:rect l="l" t="t" r="r" b="b"/>
              <a:pathLst>
                <a:path w="6096000" h="609600" extrusionOk="0">
                  <a:moveTo>
                    <a:pt x="0" y="0"/>
                  </a:moveTo>
                  <a:lnTo>
                    <a:pt x="6096000" y="0"/>
                  </a:lnTo>
                  <a:lnTo>
                    <a:pt x="609600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44856" b="-144856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Google Shape;408;p7"/>
            <p:cNvSpPr txBox="1"/>
            <p:nvPr/>
          </p:nvSpPr>
          <p:spPr>
            <a:xfrm>
              <a:off x="0" y="-38100"/>
              <a:ext cx="60960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u="none" strike="noStrike" cap="non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© CODEAMBLE 2026</a:t>
              </a:r>
              <a:endParaRPr/>
            </a:p>
          </p:txBody>
        </p:sp>
      </p:grpSp>
      <p:grpSp>
        <p:nvGrpSpPr>
          <p:cNvPr id="409" name="Google Shape;409;p7"/>
          <p:cNvGrpSpPr/>
          <p:nvPr/>
        </p:nvGrpSpPr>
        <p:grpSpPr>
          <a:xfrm>
            <a:off x="6400800" y="9609201"/>
            <a:ext cx="5852160" cy="485775"/>
            <a:chOff x="0" y="-38100"/>
            <a:chExt cx="7802880" cy="647700"/>
          </a:xfrm>
        </p:grpSpPr>
        <p:sp>
          <p:nvSpPr>
            <p:cNvPr id="410" name="Google Shape;410;p7"/>
            <p:cNvSpPr/>
            <p:nvPr/>
          </p:nvSpPr>
          <p:spPr>
            <a:xfrm>
              <a:off x="0" y="0"/>
              <a:ext cx="7802880" cy="609600"/>
            </a:xfrm>
            <a:custGeom>
              <a:avLst/>
              <a:gdLst/>
              <a:ahLst/>
              <a:cxnLst/>
              <a:rect l="l" t="t" r="r" b="b"/>
              <a:pathLst>
                <a:path w="7802880" h="609600" extrusionOk="0">
                  <a:moveTo>
                    <a:pt x="0" y="0"/>
                  </a:moveTo>
                  <a:lnTo>
                    <a:pt x="7802880" y="0"/>
                  </a:lnTo>
                  <a:lnTo>
                    <a:pt x="780288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99401" b="-199401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Google Shape;411;p7"/>
            <p:cNvSpPr txBox="1"/>
            <p:nvPr/>
          </p:nvSpPr>
          <p:spPr>
            <a:xfrm>
              <a:off x="0" y="-38100"/>
              <a:ext cx="7802880" cy="64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u="none" strike="noStrike" cap="non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ZEN Club – </a:t>
              </a:r>
              <a:r>
                <a:rPr lang="en-US" sz="1700" b="1" i="0" u="none" strike="noStrike" cap="non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Zone of Engineering Innovators</a:t>
              </a:r>
              <a:endParaRPr/>
            </a:p>
          </p:txBody>
        </p:sp>
      </p:grpSp>
      <p:grpSp>
        <p:nvGrpSpPr>
          <p:cNvPr id="412" name="Google Shape;412;p7"/>
          <p:cNvGrpSpPr/>
          <p:nvPr/>
        </p:nvGrpSpPr>
        <p:grpSpPr>
          <a:xfrm>
            <a:off x="12984480" y="9609201"/>
            <a:ext cx="5120640" cy="485775"/>
            <a:chOff x="0" y="-38100"/>
            <a:chExt cx="6827520" cy="647700"/>
          </a:xfrm>
        </p:grpSpPr>
        <p:sp>
          <p:nvSpPr>
            <p:cNvPr id="413" name="Google Shape;413;p7"/>
            <p:cNvSpPr/>
            <p:nvPr/>
          </p:nvSpPr>
          <p:spPr>
            <a:xfrm>
              <a:off x="0" y="0"/>
              <a:ext cx="6827520" cy="609600"/>
            </a:xfrm>
            <a:custGeom>
              <a:avLst/>
              <a:gdLst/>
              <a:ahLst/>
              <a:cxnLst/>
              <a:rect l="l" t="t" r="r" b="b"/>
              <a:pathLst>
                <a:path w="6827520" h="609600" extrusionOk="0">
                  <a:moveTo>
                    <a:pt x="0" y="0"/>
                  </a:moveTo>
                  <a:lnTo>
                    <a:pt x="6827520" y="0"/>
                  </a:lnTo>
                  <a:lnTo>
                    <a:pt x="682752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68226" b="-168226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Google Shape;414;p7"/>
            <p:cNvSpPr txBox="1"/>
            <p:nvPr/>
          </p:nvSpPr>
          <p:spPr>
            <a:xfrm>
              <a:off x="0" y="-38100"/>
              <a:ext cx="6827520" cy="64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u="none" strike="noStrike" cap="non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contact@zoneofengineeringinnovators.com</a:t>
              </a:r>
              <a:endParaRPr/>
            </a:p>
          </p:txBody>
        </p:sp>
      </p:grpSp>
      <p:grpSp>
        <p:nvGrpSpPr>
          <p:cNvPr id="415" name="Google Shape;415;p7"/>
          <p:cNvGrpSpPr/>
          <p:nvPr/>
        </p:nvGrpSpPr>
        <p:grpSpPr>
          <a:xfrm>
            <a:off x="535943" y="-118224"/>
            <a:ext cx="2011680" cy="2157487"/>
            <a:chOff x="0" y="-200025"/>
            <a:chExt cx="2682240" cy="2876649"/>
          </a:xfrm>
        </p:grpSpPr>
        <p:sp>
          <p:nvSpPr>
            <p:cNvPr id="416" name="Google Shape;416;p7"/>
            <p:cNvSpPr/>
            <p:nvPr/>
          </p:nvSpPr>
          <p:spPr>
            <a:xfrm>
              <a:off x="0" y="0"/>
              <a:ext cx="2682240" cy="2676624"/>
            </a:xfrm>
            <a:custGeom>
              <a:avLst/>
              <a:gdLst/>
              <a:ahLst/>
              <a:cxnLst/>
              <a:rect l="l" t="t" r="r" b="b"/>
              <a:pathLst>
                <a:path w="2682240" h="2676624" extrusionOk="0">
                  <a:moveTo>
                    <a:pt x="0" y="0"/>
                  </a:moveTo>
                  <a:lnTo>
                    <a:pt x="2682240" y="0"/>
                  </a:lnTo>
                  <a:lnTo>
                    <a:pt x="2682240" y="2676624"/>
                  </a:lnTo>
                  <a:lnTo>
                    <a:pt x="0" y="26766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37480" r="-37480" b="31675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Google Shape;417;p7"/>
            <p:cNvSpPr txBox="1"/>
            <p:nvPr/>
          </p:nvSpPr>
          <p:spPr>
            <a:xfrm>
              <a:off x="0" y="-200025"/>
              <a:ext cx="2682240" cy="28766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99" b="1" i="0" u="none" strike="noStrike" cap="none">
                  <a:solidFill>
                    <a:srgbClr val="D0DFF0"/>
                  </a:solidFill>
                  <a:latin typeface="Calibri"/>
                  <a:ea typeface="Calibri"/>
                  <a:cs typeface="Calibri"/>
                  <a:sym typeface="Calibri"/>
                </a:rPr>
                <a:t>06</a:t>
              </a:r>
              <a:endParaRPr/>
            </a:p>
          </p:txBody>
        </p:sp>
      </p:grpSp>
      <p:grpSp>
        <p:nvGrpSpPr>
          <p:cNvPr id="418" name="Google Shape;418;p7"/>
          <p:cNvGrpSpPr/>
          <p:nvPr/>
        </p:nvGrpSpPr>
        <p:grpSpPr>
          <a:xfrm>
            <a:off x="2377440" y="419195"/>
            <a:ext cx="13716000" cy="1139798"/>
            <a:chOff x="0" y="-123825"/>
            <a:chExt cx="18288000" cy="1519731"/>
          </a:xfrm>
        </p:grpSpPr>
        <p:sp>
          <p:nvSpPr>
            <p:cNvPr id="419" name="Google Shape;419;p7"/>
            <p:cNvSpPr/>
            <p:nvPr/>
          </p:nvSpPr>
          <p:spPr>
            <a:xfrm>
              <a:off x="0" y="0"/>
              <a:ext cx="18288000" cy="1395906"/>
            </a:xfrm>
            <a:custGeom>
              <a:avLst/>
              <a:gdLst/>
              <a:ahLst/>
              <a:cxnLst/>
              <a:rect l="l" t="t" r="r" b="b"/>
              <a:pathLst>
                <a:path w="18288000" h="1395906" extrusionOk="0">
                  <a:moveTo>
                    <a:pt x="0" y="0"/>
                  </a:moveTo>
                  <a:lnTo>
                    <a:pt x="18288000" y="0"/>
                  </a:lnTo>
                  <a:lnTo>
                    <a:pt x="18288000" y="1395906"/>
                  </a:lnTo>
                  <a:lnTo>
                    <a:pt x="0" y="139590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11600" b="-198943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Google Shape;420;p7"/>
            <p:cNvSpPr txBox="1"/>
            <p:nvPr/>
          </p:nvSpPr>
          <p:spPr>
            <a:xfrm>
              <a:off x="0" y="-123825"/>
              <a:ext cx="18288000" cy="15197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99" b="1" i="0" u="none" strike="noStrike" cap="non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Market Research </a:t>
              </a:r>
              <a:endParaRPr/>
            </a:p>
          </p:txBody>
        </p:sp>
      </p:grpSp>
      <p:grpSp>
        <p:nvGrpSpPr>
          <p:cNvPr id="421" name="Google Shape;421;p7"/>
          <p:cNvGrpSpPr/>
          <p:nvPr/>
        </p:nvGrpSpPr>
        <p:grpSpPr>
          <a:xfrm>
            <a:off x="2377440" y="1273874"/>
            <a:ext cx="12801600" cy="554926"/>
            <a:chOff x="0" y="-57150"/>
            <a:chExt cx="17068800" cy="739902"/>
          </a:xfrm>
        </p:grpSpPr>
        <p:sp>
          <p:nvSpPr>
            <p:cNvPr id="422" name="Google Shape;422;p7"/>
            <p:cNvSpPr/>
            <p:nvPr/>
          </p:nvSpPr>
          <p:spPr>
            <a:xfrm>
              <a:off x="0" y="0"/>
              <a:ext cx="17068800" cy="682752"/>
            </a:xfrm>
            <a:custGeom>
              <a:avLst/>
              <a:gdLst/>
              <a:ahLst/>
              <a:cxnLst/>
              <a:rect l="l" t="t" r="r" b="b"/>
              <a:pathLst>
                <a:path w="17068800" h="682752" extrusionOk="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825044" b="-825044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Google Shape;423;p7"/>
            <p:cNvSpPr txBox="1"/>
            <p:nvPr/>
          </p:nvSpPr>
          <p:spPr>
            <a:xfrm>
              <a:off x="0" y="-57150"/>
              <a:ext cx="17068800" cy="7399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 b="0" i="0" u="none" strike="noStrike" cap="non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Validate demand and identify opportunities</a:t>
              </a:r>
              <a:endParaRPr/>
            </a:p>
          </p:txBody>
        </p:sp>
      </p:grpSp>
      <p:sp>
        <p:nvSpPr>
          <p:cNvPr id="424" name="Google Shape;424;p7"/>
          <p:cNvSpPr/>
          <p:nvPr/>
        </p:nvSpPr>
        <p:spPr>
          <a:xfrm>
            <a:off x="535943" y="1998983"/>
            <a:ext cx="17386325" cy="7340631"/>
          </a:xfrm>
          <a:custGeom>
            <a:avLst/>
            <a:gdLst/>
            <a:ahLst/>
            <a:cxnLst/>
            <a:rect l="l" t="t" r="r" b="b"/>
            <a:pathLst>
              <a:path w="23181766" h="9787509" extrusionOk="0">
                <a:moveTo>
                  <a:pt x="0" y="293624"/>
                </a:moveTo>
                <a:cubicBezTo>
                  <a:pt x="0" y="131445"/>
                  <a:pt x="283115" y="0"/>
                  <a:pt x="632428" y="0"/>
                </a:cubicBezTo>
                <a:lnTo>
                  <a:pt x="22549383" y="0"/>
                </a:lnTo>
                <a:cubicBezTo>
                  <a:pt x="22898695" y="0"/>
                  <a:pt x="23181766" y="131445"/>
                  <a:pt x="23181766" y="293624"/>
                </a:cubicBezTo>
                <a:lnTo>
                  <a:pt x="23181766" y="9493885"/>
                </a:lnTo>
                <a:cubicBezTo>
                  <a:pt x="23181766" y="9656064"/>
                  <a:pt x="22898695" y="9787509"/>
                  <a:pt x="22549383" y="9787509"/>
                </a:cubicBezTo>
                <a:lnTo>
                  <a:pt x="632428" y="9787509"/>
                </a:lnTo>
                <a:cubicBezTo>
                  <a:pt x="283115" y="9787509"/>
                  <a:pt x="0" y="9656064"/>
                  <a:pt x="0" y="9493885"/>
                </a:cubicBezTo>
                <a:close/>
              </a:path>
            </a:pathLst>
          </a:custGeom>
          <a:solidFill>
            <a:srgbClr val="FFFFFF"/>
          </a:solidFill>
          <a:ln w="25400" cap="sq" cmpd="sng">
            <a:solidFill>
              <a:srgbClr val="E2EAF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5" name="Google Shape;425;p7"/>
          <p:cNvGrpSpPr/>
          <p:nvPr/>
        </p:nvGrpSpPr>
        <p:grpSpPr>
          <a:xfrm>
            <a:off x="914400" y="2195417"/>
            <a:ext cx="16413480" cy="730663"/>
            <a:chOff x="0" y="-47625"/>
            <a:chExt cx="21884640" cy="974217"/>
          </a:xfrm>
        </p:grpSpPr>
        <p:sp>
          <p:nvSpPr>
            <p:cNvPr id="426" name="Google Shape;426;p7"/>
            <p:cNvSpPr/>
            <p:nvPr/>
          </p:nvSpPr>
          <p:spPr>
            <a:xfrm>
              <a:off x="0" y="0"/>
              <a:ext cx="21884639" cy="926592"/>
            </a:xfrm>
            <a:custGeom>
              <a:avLst/>
              <a:gdLst/>
              <a:ahLst/>
              <a:cxnLst/>
              <a:rect l="l" t="t" r="r" b="b"/>
              <a:pathLst>
                <a:path w="21884639" h="926592" extrusionOk="0">
                  <a:moveTo>
                    <a:pt x="0" y="0"/>
                  </a:moveTo>
                  <a:lnTo>
                    <a:pt x="21884639" y="0"/>
                  </a:lnTo>
                  <a:lnTo>
                    <a:pt x="21884639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55103" r="55431" b="-155103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Google Shape;427;p7"/>
            <p:cNvSpPr txBox="1"/>
            <p:nvPr/>
          </p:nvSpPr>
          <p:spPr>
            <a:xfrm>
              <a:off x="0" y="-47625"/>
              <a:ext cx="21884640" cy="9742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📊 Competitive Landscape</a:t>
              </a:r>
              <a:endParaRPr/>
            </a:p>
          </p:txBody>
        </p:sp>
      </p:grpSp>
      <p:grpSp>
        <p:nvGrpSpPr>
          <p:cNvPr id="428" name="Google Shape;428;p7"/>
          <p:cNvGrpSpPr/>
          <p:nvPr/>
        </p:nvGrpSpPr>
        <p:grpSpPr>
          <a:xfrm>
            <a:off x="914400" y="2974658"/>
            <a:ext cx="16413480" cy="1048702"/>
            <a:chOff x="0" y="-57150"/>
            <a:chExt cx="21884640" cy="1398270"/>
          </a:xfrm>
        </p:grpSpPr>
        <p:sp>
          <p:nvSpPr>
            <p:cNvPr id="429" name="Google Shape;429;p7"/>
            <p:cNvSpPr/>
            <p:nvPr/>
          </p:nvSpPr>
          <p:spPr>
            <a:xfrm>
              <a:off x="0" y="0"/>
              <a:ext cx="21884639" cy="1341120"/>
            </a:xfrm>
            <a:custGeom>
              <a:avLst/>
              <a:gdLst/>
              <a:ahLst/>
              <a:cxnLst/>
              <a:rect l="l" t="t" r="r" b="b"/>
              <a:pathLst>
                <a:path w="21884639" h="1341120" extrusionOk="0">
                  <a:moveTo>
                    <a:pt x="0" y="0"/>
                  </a:moveTo>
                  <a:lnTo>
                    <a:pt x="21884639" y="0"/>
                  </a:lnTo>
                  <a:lnTo>
                    <a:pt x="21884639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521952" b="-521952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Google Shape;430;p7"/>
            <p:cNvSpPr txBox="1"/>
            <p:nvPr/>
          </p:nvSpPr>
          <p:spPr>
            <a:xfrm>
              <a:off x="0" y="-57150"/>
              <a:ext cx="21884640" cy="13982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 b="0" i="0" u="none" strike="noStrike" cap="non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The emergency medical-ID market is real but network-dependent. The leading options — and where each one stops short:</a:t>
              </a:r>
              <a:endParaRPr/>
            </a:p>
          </p:txBody>
        </p:sp>
      </p:grpSp>
      <p:grpSp>
        <p:nvGrpSpPr>
          <p:cNvPr id="431" name="Google Shape;431;p7"/>
          <p:cNvGrpSpPr/>
          <p:nvPr/>
        </p:nvGrpSpPr>
        <p:grpSpPr>
          <a:xfrm>
            <a:off x="914400" y="5480113"/>
            <a:ext cx="15819120" cy="1176719"/>
            <a:chOff x="0" y="-57150"/>
            <a:chExt cx="21092160" cy="1568958"/>
          </a:xfrm>
        </p:grpSpPr>
        <p:sp>
          <p:nvSpPr>
            <p:cNvPr id="432" name="Google Shape;432;p7"/>
            <p:cNvSpPr/>
            <p:nvPr/>
          </p:nvSpPr>
          <p:spPr>
            <a:xfrm>
              <a:off x="0" y="0"/>
              <a:ext cx="21092159" cy="1511808"/>
            </a:xfrm>
            <a:custGeom>
              <a:avLst/>
              <a:gdLst/>
              <a:ahLst/>
              <a:cxnLst/>
              <a:rect l="l" t="t" r="r" b="b"/>
              <a:pathLst>
                <a:path w="21092159" h="1511808" extrusionOk="0">
                  <a:moveTo>
                    <a:pt x="0" y="0"/>
                  </a:moveTo>
                  <a:lnTo>
                    <a:pt x="21092159" y="0"/>
                  </a:lnTo>
                  <a:lnTo>
                    <a:pt x="21092159" y="1511808"/>
                  </a:lnTo>
                  <a:lnTo>
                    <a:pt x="0" y="151180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438281" b="-438281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Google Shape;433;p7"/>
            <p:cNvSpPr txBox="1"/>
            <p:nvPr/>
          </p:nvSpPr>
          <p:spPr>
            <a:xfrm>
              <a:off x="0" y="-57150"/>
              <a:ext cx="21092160" cy="1568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99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2599" b="0" i="0" u="none" strike="noStrike" cap="non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 Apple Health Medical ID — phone lock-screen info: useless if the phone is dead, absent or locked, and no responder can write back to it.</a:t>
              </a:r>
              <a:endParaRPr/>
            </a:p>
          </p:txBody>
        </p:sp>
      </p:grpSp>
      <p:grpSp>
        <p:nvGrpSpPr>
          <p:cNvPr id="434" name="Google Shape;434;p7"/>
          <p:cNvGrpSpPr/>
          <p:nvPr/>
        </p:nvGrpSpPr>
        <p:grpSpPr>
          <a:xfrm>
            <a:off x="914400" y="7014020"/>
            <a:ext cx="16696391" cy="1176718"/>
            <a:chOff x="0" y="-57150"/>
            <a:chExt cx="22261854" cy="1568958"/>
          </a:xfrm>
        </p:grpSpPr>
        <p:sp>
          <p:nvSpPr>
            <p:cNvPr id="435" name="Google Shape;435;p7"/>
            <p:cNvSpPr/>
            <p:nvPr/>
          </p:nvSpPr>
          <p:spPr>
            <a:xfrm>
              <a:off x="0" y="0"/>
              <a:ext cx="22261854" cy="1511808"/>
            </a:xfrm>
            <a:custGeom>
              <a:avLst/>
              <a:gdLst/>
              <a:ahLst/>
              <a:cxnLst/>
              <a:rect l="l" t="t" r="r" b="b"/>
              <a:pathLst>
                <a:path w="22261854" h="1511808" extrusionOk="0">
                  <a:moveTo>
                    <a:pt x="0" y="0"/>
                  </a:moveTo>
                  <a:lnTo>
                    <a:pt x="22261854" y="0"/>
                  </a:lnTo>
                  <a:lnTo>
                    <a:pt x="22261854" y="1511808"/>
                  </a:lnTo>
                  <a:lnTo>
                    <a:pt x="0" y="151180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465357" b="-465357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Google Shape;436;p7"/>
            <p:cNvSpPr txBox="1"/>
            <p:nvPr/>
          </p:nvSpPr>
          <p:spPr>
            <a:xfrm>
              <a:off x="0" y="-57150"/>
              <a:ext cx="22261854" cy="1568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2600" b="0" i="0" u="none" strike="noStrike" cap="non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 Govt digital health IDs (e.g. ABHA) — cloud EHR: online-only, not emergency-first, with no offline tag or in-field treatment logging.</a:t>
              </a:r>
              <a:endParaRPr/>
            </a:p>
          </p:txBody>
        </p:sp>
      </p:grpSp>
      <p:sp>
        <p:nvSpPr>
          <p:cNvPr id="437" name="Google Shape;437;p7"/>
          <p:cNvSpPr/>
          <p:nvPr/>
        </p:nvSpPr>
        <p:spPr>
          <a:xfrm>
            <a:off x="15798500" y="238800"/>
            <a:ext cx="2143125" cy="1475499"/>
          </a:xfrm>
          <a:custGeom>
            <a:avLst/>
            <a:gdLst/>
            <a:ahLst/>
            <a:cxnLst/>
            <a:rect l="l" t="t" r="r" b="b"/>
            <a:pathLst>
              <a:path w="2143125" h="1475499" extrusionOk="0">
                <a:moveTo>
                  <a:pt x="0" y="0"/>
                </a:moveTo>
                <a:lnTo>
                  <a:pt x="2143125" y="0"/>
                </a:lnTo>
                <a:lnTo>
                  <a:pt x="2143125" y="1475499"/>
                </a:lnTo>
                <a:lnTo>
                  <a:pt x="0" y="14754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700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grpSp>
        <p:nvGrpSpPr>
          <p:cNvPr id="901" name="Google Shape;431;p7"/>
          <p:cNvGrpSpPr/>
          <p:nvPr/>
        </p:nvGrpSpPr>
        <p:grpSpPr>
          <a:xfrm>
            <a:off x="914400" y="3943921"/>
            <a:ext cx="15819120" cy="1176719"/>
            <a:chOff x="0" y="-57150"/>
            <a:chExt cx="21092160" cy="1568958"/>
          </a:xfrm>
        </p:grpSpPr>
        <p:sp>
          <p:nvSpPr>
            <p:cNvPr id="902" name="Google Shape;432;p7"/>
            <p:cNvSpPr/>
            <p:nvPr/>
          </p:nvSpPr>
          <p:spPr>
            <a:xfrm>
              <a:off x="0" y="0"/>
              <a:ext cx="21092159" cy="1511808"/>
            </a:xfrm>
            <a:custGeom>
              <a:avLst/>
              <a:gdLst/>
              <a:ahLst/>
              <a:cxnLst/>
              <a:rect l="l" t="t" r="r" b="b"/>
              <a:pathLst>
                <a:path w="21092159" h="1511808" extrusionOk="0">
                  <a:moveTo>
                    <a:pt x="0" y="0"/>
                  </a:moveTo>
                  <a:lnTo>
                    <a:pt x="21092159" y="0"/>
                  </a:lnTo>
                  <a:lnTo>
                    <a:pt x="21092159" y="1511808"/>
                  </a:lnTo>
                  <a:lnTo>
                    <a:pt x="0" y="151180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438281" b="-438281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Google Shape;433;p7"/>
            <p:cNvSpPr txBox="1"/>
            <p:nvPr/>
          </p:nvSpPr>
          <p:spPr>
            <a:xfrm>
              <a:off x="0" y="-57150"/>
              <a:ext cx="21092160" cy="1568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99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lang="en-US" sz="2599" b="0" i="0" u="none" strike="noStrike" cap="none">
                  <a:solidFill>
                    <a:srgbClr val="4A6080"/>
                  </a:solidFill>
                  <a:latin typeface="Calibri"/>
                  <a:ea typeface="Calibri"/>
                  <a:cs typeface="Calibri"/>
                  <a:sym typeface="Calibri"/>
                </a:rPr>
                <a:t> MedicAlert — engraved bracelet + cloud profile: static, subscription-based, and needs a network to fetch the full record.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2" name="Google Shape;442;p8"/>
          <p:cNvGrpSpPr/>
          <p:nvPr/>
        </p:nvGrpSpPr>
        <p:grpSpPr>
          <a:xfrm>
            <a:off x="640080" y="9609201"/>
            <a:ext cx="4572000" cy="485775"/>
            <a:chOff x="0" y="-38100"/>
            <a:chExt cx="6096000" cy="647700"/>
          </a:xfrm>
        </p:grpSpPr>
        <p:sp>
          <p:nvSpPr>
            <p:cNvPr id="443" name="Google Shape;443;p8"/>
            <p:cNvSpPr/>
            <p:nvPr/>
          </p:nvSpPr>
          <p:spPr>
            <a:xfrm>
              <a:off x="0" y="0"/>
              <a:ext cx="6096000" cy="609600"/>
            </a:xfrm>
            <a:custGeom>
              <a:avLst/>
              <a:gdLst/>
              <a:ahLst/>
              <a:cxnLst/>
              <a:rect l="l" t="t" r="r" b="b"/>
              <a:pathLst>
                <a:path w="6096000" h="609600" extrusionOk="0">
                  <a:moveTo>
                    <a:pt x="0" y="0"/>
                  </a:moveTo>
                  <a:lnTo>
                    <a:pt x="6096000" y="0"/>
                  </a:lnTo>
                  <a:lnTo>
                    <a:pt x="609600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44856" b="-144856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Google Shape;444;p8"/>
            <p:cNvSpPr txBox="1"/>
            <p:nvPr/>
          </p:nvSpPr>
          <p:spPr>
            <a:xfrm>
              <a:off x="0" y="-38100"/>
              <a:ext cx="60960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u="none" strike="noStrike" cap="non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© CODEAMBLE 2026</a:t>
              </a:r>
              <a:endParaRPr/>
            </a:p>
          </p:txBody>
        </p:sp>
      </p:grpSp>
      <p:grpSp>
        <p:nvGrpSpPr>
          <p:cNvPr id="445" name="Google Shape;445;p8"/>
          <p:cNvGrpSpPr/>
          <p:nvPr/>
        </p:nvGrpSpPr>
        <p:grpSpPr>
          <a:xfrm>
            <a:off x="6400800" y="9609201"/>
            <a:ext cx="5852160" cy="485775"/>
            <a:chOff x="0" y="-38100"/>
            <a:chExt cx="7802880" cy="647700"/>
          </a:xfrm>
        </p:grpSpPr>
        <p:sp>
          <p:nvSpPr>
            <p:cNvPr id="446" name="Google Shape;446;p8"/>
            <p:cNvSpPr/>
            <p:nvPr/>
          </p:nvSpPr>
          <p:spPr>
            <a:xfrm>
              <a:off x="0" y="0"/>
              <a:ext cx="7802880" cy="609600"/>
            </a:xfrm>
            <a:custGeom>
              <a:avLst/>
              <a:gdLst/>
              <a:ahLst/>
              <a:cxnLst/>
              <a:rect l="l" t="t" r="r" b="b"/>
              <a:pathLst>
                <a:path w="7802880" h="609600" extrusionOk="0">
                  <a:moveTo>
                    <a:pt x="0" y="0"/>
                  </a:moveTo>
                  <a:lnTo>
                    <a:pt x="7802880" y="0"/>
                  </a:lnTo>
                  <a:lnTo>
                    <a:pt x="780288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99401" b="-199401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Google Shape;447;p8"/>
            <p:cNvSpPr txBox="1"/>
            <p:nvPr/>
          </p:nvSpPr>
          <p:spPr>
            <a:xfrm>
              <a:off x="0" y="-38100"/>
              <a:ext cx="7802880" cy="64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u="none" strike="noStrike" cap="non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ZEN Club – </a:t>
              </a:r>
              <a:r>
                <a:rPr lang="en-US" sz="1700" b="1" i="0" u="none" strike="noStrike" cap="non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Zone of Engineering Innovators</a:t>
              </a:r>
              <a:endParaRPr/>
            </a:p>
          </p:txBody>
        </p:sp>
      </p:grpSp>
      <p:grpSp>
        <p:nvGrpSpPr>
          <p:cNvPr id="448" name="Google Shape;448;p8"/>
          <p:cNvGrpSpPr/>
          <p:nvPr/>
        </p:nvGrpSpPr>
        <p:grpSpPr>
          <a:xfrm>
            <a:off x="12984480" y="9609201"/>
            <a:ext cx="5120640" cy="485775"/>
            <a:chOff x="0" y="-38100"/>
            <a:chExt cx="6827520" cy="647700"/>
          </a:xfrm>
        </p:grpSpPr>
        <p:sp>
          <p:nvSpPr>
            <p:cNvPr id="449" name="Google Shape;449;p8"/>
            <p:cNvSpPr/>
            <p:nvPr/>
          </p:nvSpPr>
          <p:spPr>
            <a:xfrm>
              <a:off x="0" y="0"/>
              <a:ext cx="6827520" cy="609600"/>
            </a:xfrm>
            <a:custGeom>
              <a:avLst/>
              <a:gdLst/>
              <a:ahLst/>
              <a:cxnLst/>
              <a:rect l="l" t="t" r="r" b="b"/>
              <a:pathLst>
                <a:path w="6827520" h="609600" extrusionOk="0">
                  <a:moveTo>
                    <a:pt x="0" y="0"/>
                  </a:moveTo>
                  <a:lnTo>
                    <a:pt x="6827520" y="0"/>
                  </a:lnTo>
                  <a:lnTo>
                    <a:pt x="682752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68226" b="-168226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Google Shape;450;p8"/>
            <p:cNvSpPr txBox="1"/>
            <p:nvPr/>
          </p:nvSpPr>
          <p:spPr>
            <a:xfrm>
              <a:off x="0" y="-38100"/>
              <a:ext cx="6827520" cy="64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u="none" strike="noStrike" cap="non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contact@zoneofengineeringinnovators.com</a:t>
              </a:r>
              <a:endParaRPr/>
            </a:p>
          </p:txBody>
        </p:sp>
      </p:grpSp>
      <p:grpSp>
        <p:nvGrpSpPr>
          <p:cNvPr id="451" name="Google Shape;451;p8"/>
          <p:cNvGrpSpPr/>
          <p:nvPr/>
        </p:nvGrpSpPr>
        <p:grpSpPr>
          <a:xfrm>
            <a:off x="535943" y="-150019"/>
            <a:ext cx="2011680" cy="2157487"/>
            <a:chOff x="0" y="-200025"/>
            <a:chExt cx="2682240" cy="2876649"/>
          </a:xfrm>
        </p:grpSpPr>
        <p:sp>
          <p:nvSpPr>
            <p:cNvPr id="452" name="Google Shape;452;p8"/>
            <p:cNvSpPr/>
            <p:nvPr/>
          </p:nvSpPr>
          <p:spPr>
            <a:xfrm>
              <a:off x="0" y="0"/>
              <a:ext cx="2682240" cy="2676624"/>
            </a:xfrm>
            <a:custGeom>
              <a:avLst/>
              <a:gdLst/>
              <a:ahLst/>
              <a:cxnLst/>
              <a:rect l="l" t="t" r="r" b="b"/>
              <a:pathLst>
                <a:path w="2682240" h="2676624" extrusionOk="0">
                  <a:moveTo>
                    <a:pt x="0" y="0"/>
                  </a:moveTo>
                  <a:lnTo>
                    <a:pt x="2682240" y="0"/>
                  </a:lnTo>
                  <a:lnTo>
                    <a:pt x="2682240" y="2676624"/>
                  </a:lnTo>
                  <a:lnTo>
                    <a:pt x="0" y="26766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37480" r="-37480" b="31675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Google Shape;453;p8"/>
            <p:cNvSpPr txBox="1"/>
            <p:nvPr/>
          </p:nvSpPr>
          <p:spPr>
            <a:xfrm>
              <a:off x="0" y="-200025"/>
              <a:ext cx="2682240" cy="28766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99" b="1" i="0" u="none" strike="noStrike" cap="none">
                  <a:solidFill>
                    <a:srgbClr val="D0DFF0"/>
                  </a:solidFill>
                  <a:latin typeface="Calibri"/>
                  <a:ea typeface="Calibri"/>
                  <a:cs typeface="Calibri"/>
                  <a:sym typeface="Calibri"/>
                </a:rPr>
                <a:t>07</a:t>
              </a:r>
              <a:endParaRPr/>
            </a:p>
          </p:txBody>
        </p:sp>
      </p:grpSp>
      <p:grpSp>
        <p:nvGrpSpPr>
          <p:cNvPr id="454" name="Google Shape;454;p8"/>
          <p:cNvGrpSpPr/>
          <p:nvPr/>
        </p:nvGrpSpPr>
        <p:grpSpPr>
          <a:xfrm>
            <a:off x="2377440" y="419195"/>
            <a:ext cx="13716000" cy="1139798"/>
            <a:chOff x="0" y="-123825"/>
            <a:chExt cx="18288000" cy="1519731"/>
          </a:xfrm>
        </p:grpSpPr>
        <p:sp>
          <p:nvSpPr>
            <p:cNvPr id="455" name="Google Shape;455;p8"/>
            <p:cNvSpPr/>
            <p:nvPr/>
          </p:nvSpPr>
          <p:spPr>
            <a:xfrm>
              <a:off x="0" y="0"/>
              <a:ext cx="18288000" cy="1395906"/>
            </a:xfrm>
            <a:custGeom>
              <a:avLst/>
              <a:gdLst/>
              <a:ahLst/>
              <a:cxnLst/>
              <a:rect l="l" t="t" r="r" b="b"/>
              <a:pathLst>
                <a:path w="18288000" h="1395906" extrusionOk="0">
                  <a:moveTo>
                    <a:pt x="0" y="0"/>
                  </a:moveTo>
                  <a:lnTo>
                    <a:pt x="18288000" y="0"/>
                  </a:lnTo>
                  <a:lnTo>
                    <a:pt x="18288000" y="1395906"/>
                  </a:lnTo>
                  <a:lnTo>
                    <a:pt x="0" y="139590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11600" b="-198943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Google Shape;456;p8"/>
            <p:cNvSpPr txBox="1"/>
            <p:nvPr/>
          </p:nvSpPr>
          <p:spPr>
            <a:xfrm>
              <a:off x="0" y="-123825"/>
              <a:ext cx="18288000" cy="15197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99" b="1" i="0" u="none" strike="noStrike" cap="non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 Gap Analysis</a:t>
              </a:r>
              <a:endParaRPr/>
            </a:p>
          </p:txBody>
        </p:sp>
      </p:grpSp>
      <p:grpSp>
        <p:nvGrpSpPr>
          <p:cNvPr id="457" name="Google Shape;457;p8"/>
          <p:cNvGrpSpPr/>
          <p:nvPr/>
        </p:nvGrpSpPr>
        <p:grpSpPr>
          <a:xfrm>
            <a:off x="2377440" y="1273874"/>
            <a:ext cx="12801600" cy="554926"/>
            <a:chOff x="0" y="-57150"/>
            <a:chExt cx="17068800" cy="739902"/>
          </a:xfrm>
        </p:grpSpPr>
        <p:sp>
          <p:nvSpPr>
            <p:cNvPr id="458" name="Google Shape;458;p8"/>
            <p:cNvSpPr/>
            <p:nvPr/>
          </p:nvSpPr>
          <p:spPr>
            <a:xfrm>
              <a:off x="0" y="0"/>
              <a:ext cx="17068800" cy="682752"/>
            </a:xfrm>
            <a:custGeom>
              <a:avLst/>
              <a:gdLst/>
              <a:ahLst/>
              <a:cxnLst/>
              <a:rect l="l" t="t" r="r" b="b"/>
              <a:pathLst>
                <a:path w="17068800" h="682752" extrusionOk="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825044" b="-825044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Google Shape;459;p8"/>
            <p:cNvSpPr txBox="1"/>
            <p:nvPr/>
          </p:nvSpPr>
          <p:spPr>
            <a:xfrm>
              <a:off x="0" y="-57150"/>
              <a:ext cx="17068800" cy="7399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 b="0" i="0" u="none" strike="noStrike" cap="non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Validate demand and identify opportunities</a:t>
              </a:r>
              <a:endParaRPr/>
            </a:p>
          </p:txBody>
        </p:sp>
      </p:grpSp>
      <p:sp>
        <p:nvSpPr>
          <p:cNvPr id="460" name="Google Shape;460;p8"/>
          <p:cNvSpPr/>
          <p:nvPr/>
        </p:nvSpPr>
        <p:spPr>
          <a:xfrm>
            <a:off x="224494" y="1852674"/>
            <a:ext cx="17386325" cy="7340631"/>
          </a:xfrm>
          <a:custGeom>
            <a:avLst/>
            <a:gdLst/>
            <a:ahLst/>
            <a:cxnLst/>
            <a:rect l="l" t="t" r="r" b="b"/>
            <a:pathLst>
              <a:path w="23181766" h="9787509" extrusionOk="0">
                <a:moveTo>
                  <a:pt x="0" y="293624"/>
                </a:moveTo>
                <a:cubicBezTo>
                  <a:pt x="0" y="131445"/>
                  <a:pt x="283115" y="0"/>
                  <a:pt x="632428" y="0"/>
                </a:cubicBezTo>
                <a:lnTo>
                  <a:pt x="22549383" y="0"/>
                </a:lnTo>
                <a:cubicBezTo>
                  <a:pt x="22898695" y="0"/>
                  <a:pt x="23181766" y="131445"/>
                  <a:pt x="23181766" y="293624"/>
                </a:cubicBezTo>
                <a:lnTo>
                  <a:pt x="23181766" y="9493885"/>
                </a:lnTo>
                <a:cubicBezTo>
                  <a:pt x="23181766" y="9656064"/>
                  <a:pt x="22898695" y="9787509"/>
                  <a:pt x="22549383" y="9787509"/>
                </a:cubicBezTo>
                <a:lnTo>
                  <a:pt x="632428" y="9787509"/>
                </a:lnTo>
                <a:cubicBezTo>
                  <a:pt x="283115" y="9787509"/>
                  <a:pt x="0" y="9656064"/>
                  <a:pt x="0" y="9493885"/>
                </a:cubicBezTo>
                <a:close/>
              </a:path>
            </a:pathLst>
          </a:custGeom>
          <a:solidFill>
            <a:srgbClr val="FFFFFF"/>
          </a:solidFill>
          <a:ln w="25400" cap="sq" cmpd="sng">
            <a:solidFill>
              <a:srgbClr val="E2EAF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1" name="Google Shape;461;p8"/>
          <p:cNvGrpSpPr/>
          <p:nvPr/>
        </p:nvGrpSpPr>
        <p:grpSpPr>
          <a:xfrm>
            <a:off x="914400" y="2195417"/>
            <a:ext cx="16413480" cy="730663"/>
            <a:chOff x="0" y="-47625"/>
            <a:chExt cx="21884640" cy="974217"/>
          </a:xfrm>
        </p:grpSpPr>
        <p:sp>
          <p:nvSpPr>
            <p:cNvPr id="462" name="Google Shape;462;p8"/>
            <p:cNvSpPr/>
            <p:nvPr/>
          </p:nvSpPr>
          <p:spPr>
            <a:xfrm>
              <a:off x="0" y="0"/>
              <a:ext cx="21884639" cy="926592"/>
            </a:xfrm>
            <a:custGeom>
              <a:avLst/>
              <a:gdLst/>
              <a:ahLst/>
              <a:cxnLst/>
              <a:rect l="l" t="t" r="r" b="b"/>
              <a:pathLst>
                <a:path w="21884639" h="926592" extrusionOk="0">
                  <a:moveTo>
                    <a:pt x="0" y="0"/>
                  </a:moveTo>
                  <a:lnTo>
                    <a:pt x="21884639" y="0"/>
                  </a:lnTo>
                  <a:lnTo>
                    <a:pt x="21884639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55103" r="55431" b="-155103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Google Shape;463;p8"/>
            <p:cNvSpPr txBox="1"/>
            <p:nvPr/>
          </p:nvSpPr>
          <p:spPr>
            <a:xfrm>
              <a:off x="0" y="-47625"/>
              <a:ext cx="21884640" cy="9742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🔍 Gap Analysis</a:t>
              </a:r>
              <a:endParaRPr/>
            </a:p>
          </p:txBody>
        </p:sp>
      </p:grpSp>
      <p:grpSp>
        <p:nvGrpSpPr>
          <p:cNvPr id="464" name="Google Shape;464;p8"/>
          <p:cNvGrpSpPr/>
          <p:nvPr/>
        </p:nvGrpSpPr>
        <p:grpSpPr>
          <a:xfrm>
            <a:off x="914400" y="2743200"/>
            <a:ext cx="15819120" cy="1176718"/>
            <a:chOff x="0" y="-57150"/>
            <a:chExt cx="21092160" cy="1568958"/>
          </a:xfrm>
        </p:grpSpPr>
        <p:sp>
          <p:nvSpPr>
            <p:cNvPr id="465" name="Google Shape;465;p8"/>
            <p:cNvSpPr/>
            <p:nvPr/>
          </p:nvSpPr>
          <p:spPr>
            <a:xfrm>
              <a:off x="0" y="0"/>
              <a:ext cx="21092159" cy="1511808"/>
            </a:xfrm>
            <a:custGeom>
              <a:avLst/>
              <a:gdLst/>
              <a:ahLst/>
              <a:cxnLst/>
              <a:rect l="l" t="t" r="r" b="b"/>
              <a:pathLst>
                <a:path w="21092159" h="1511808" extrusionOk="0">
                  <a:moveTo>
                    <a:pt x="0" y="0"/>
                  </a:moveTo>
                  <a:lnTo>
                    <a:pt x="21092159" y="0"/>
                  </a:lnTo>
                  <a:lnTo>
                    <a:pt x="2109215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B4B4B4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Google Shape;466;p8"/>
            <p:cNvSpPr txBox="1"/>
            <p:nvPr/>
          </p:nvSpPr>
          <p:spPr>
            <a:xfrm>
              <a:off x="0" y="-57150"/>
              <a:ext cx="21092160" cy="1568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7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2400">
                  <a:solidFill>
                    <a:srgbClr val="4A6080"/>
                  </a:solidFill>
                  <a:latin typeface="Calibri"/>
                </a:rPr>
                <a:t>Where existing emergency medical-ID solutions fall short — and how Patient-Tap closes each gap: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8" name="Google Shape;468;p8"/>
          <p:cNvGrpSpPr/>
          <p:nvPr/>
        </p:nvGrpSpPr>
        <p:grpSpPr>
          <a:xfrm>
            <a:off x="15961995" y="164540"/>
            <a:ext cx="1543050" cy="1497562"/>
            <a:chOff x="0" y="-47625"/>
            <a:chExt cx="406400" cy="394420"/>
          </a:xfrm>
        </p:grpSpPr>
        <p:sp>
          <p:nvSpPr>
            <p:cNvPr id="469" name="Google Shape;469;p8"/>
            <p:cNvSpPr/>
            <p:nvPr/>
          </p:nvSpPr>
          <p:spPr>
            <a:xfrm>
              <a:off x="0" y="0"/>
              <a:ext cx="406400" cy="346795"/>
            </a:xfrm>
            <a:custGeom>
              <a:avLst/>
              <a:gdLst/>
              <a:ahLst/>
              <a:cxnLst/>
              <a:rect l="l" t="t" r="r" b="b"/>
              <a:pathLst>
                <a:path w="406400" h="346795" extrusionOk="0">
                  <a:moveTo>
                    <a:pt x="85294" y="0"/>
                  </a:moveTo>
                  <a:lnTo>
                    <a:pt x="321106" y="0"/>
                  </a:lnTo>
                  <a:cubicBezTo>
                    <a:pt x="343727" y="0"/>
                    <a:pt x="365422" y="8986"/>
                    <a:pt x="381418" y="24982"/>
                  </a:cubicBezTo>
                  <a:cubicBezTo>
                    <a:pt x="397414" y="40978"/>
                    <a:pt x="406400" y="62673"/>
                    <a:pt x="406400" y="85294"/>
                  </a:cubicBezTo>
                  <a:lnTo>
                    <a:pt x="406400" y="261501"/>
                  </a:lnTo>
                  <a:cubicBezTo>
                    <a:pt x="406400" y="284122"/>
                    <a:pt x="397414" y="305817"/>
                    <a:pt x="381418" y="321813"/>
                  </a:cubicBezTo>
                  <a:cubicBezTo>
                    <a:pt x="365422" y="337808"/>
                    <a:pt x="343727" y="346795"/>
                    <a:pt x="321106" y="346795"/>
                  </a:cubicBezTo>
                  <a:lnTo>
                    <a:pt x="85294" y="346795"/>
                  </a:lnTo>
                  <a:cubicBezTo>
                    <a:pt x="62673" y="346795"/>
                    <a:pt x="40978" y="337808"/>
                    <a:pt x="24982" y="321813"/>
                  </a:cubicBezTo>
                  <a:cubicBezTo>
                    <a:pt x="8986" y="305817"/>
                    <a:pt x="0" y="284122"/>
                    <a:pt x="0" y="261501"/>
                  </a:cubicBezTo>
                  <a:lnTo>
                    <a:pt x="0" y="85294"/>
                  </a:lnTo>
                  <a:cubicBezTo>
                    <a:pt x="0" y="62673"/>
                    <a:pt x="8986" y="40978"/>
                    <a:pt x="24982" y="24982"/>
                  </a:cubicBezTo>
                  <a:cubicBezTo>
                    <a:pt x="40978" y="8986"/>
                    <a:pt x="62673" y="0"/>
                    <a:pt x="85294" y="0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8"/>
            <p:cNvSpPr txBox="1"/>
            <p:nvPr/>
          </p:nvSpPr>
          <p:spPr>
            <a:xfrm>
              <a:off x="0" y="-47625"/>
              <a:ext cx="406400" cy="394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1" name="Google Shape;471;p8"/>
          <p:cNvSpPr/>
          <p:nvPr/>
        </p:nvSpPr>
        <p:spPr>
          <a:xfrm>
            <a:off x="15798500" y="238800"/>
            <a:ext cx="2143125" cy="1475499"/>
          </a:xfrm>
          <a:custGeom>
            <a:avLst/>
            <a:gdLst/>
            <a:ahLst/>
            <a:cxnLst/>
            <a:rect l="l" t="t" r="r" b="b"/>
            <a:pathLst>
              <a:path w="2143125" h="1475499" extrusionOk="0">
                <a:moveTo>
                  <a:pt x="0" y="0"/>
                </a:moveTo>
                <a:lnTo>
                  <a:pt x="2143125" y="0"/>
                </a:lnTo>
                <a:lnTo>
                  <a:pt x="2143125" y="1475499"/>
                </a:lnTo>
                <a:lnTo>
                  <a:pt x="0" y="14754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700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graphicFrame>
        <p:nvGraphicFramePr>
          <p:cNvPr id="472" name="Table 471"/>
          <p:cNvGraphicFramePr>
            <a:graphicFrameLocks noGrp="1"/>
          </p:cNvGraphicFramePr>
          <p:nvPr/>
        </p:nvGraphicFramePr>
        <p:xfrm>
          <a:off x="914400" y="3977639"/>
          <a:ext cx="16459200" cy="4480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164592" marR="109728" marT="36576" marB="36576" anchor="ctr">
                    <a:solidFill>
                      <a:srgbClr val="1B8F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Existing Solutions</a:t>
                      </a:r>
                    </a:p>
                  </a:txBody>
                  <a:tcPr marL="164592" marR="109728" marT="36576" marB="36576" anchor="ctr">
                    <a:solidFill>
                      <a:srgbClr val="1B8F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Patient-Tap</a:t>
                      </a:r>
                    </a:p>
                  </a:txBody>
                  <a:tcPr marL="164592" marR="109728" marT="36576" marB="36576" anchor="ctr">
                    <a:solidFill>
                      <a:srgbClr val="1B8F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1A2B45"/>
                          </a:solidFill>
                          <a:latin typeface="Calibri"/>
                        </a:rPr>
                        <a:t>Works offline</a:t>
                      </a:r>
                    </a:p>
                  </a:txBody>
                  <a:tcPr marL="164592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>
                          <a:solidFill>
                            <a:srgbClr val="4A6080"/>
                          </a:solidFill>
                          <a:latin typeface="Calibri"/>
                        </a:rPr>
                        <a:t>Cloud-dependent — fails in a blackout</a:t>
                      </a:r>
                    </a:p>
                  </a:txBody>
                  <a:tcPr marL="164592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1B8FC4"/>
                          </a:solidFill>
                          <a:latin typeface="Calibri"/>
                        </a:rPr>
                        <a:t>Full record on the chip, zero network</a:t>
                      </a:r>
                    </a:p>
                  </a:txBody>
                  <a:tcPr marL="164592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1A2B45"/>
                          </a:solidFill>
                          <a:latin typeface="Calibri"/>
                        </a:rPr>
                        <a:t>Data location</a:t>
                      </a:r>
                    </a:p>
                  </a:txBody>
                  <a:tcPr marL="164592" marR="109728" marT="36576" marB="36576" anchor="ctr"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>
                          <a:solidFill>
                            <a:srgbClr val="4A6080"/>
                          </a:solidFill>
                          <a:latin typeface="Calibri"/>
                        </a:rPr>
                        <a:t>Cloud, or a locked / dead phone</a:t>
                      </a:r>
                    </a:p>
                  </a:txBody>
                  <a:tcPr marL="164592" marR="109728" marT="36576" marB="36576" anchor="ctr"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1B8FC4"/>
                          </a:solidFill>
                          <a:latin typeface="Calibri"/>
                        </a:rPr>
                        <a:t>Encrypted on the NFC tag you wear</a:t>
                      </a:r>
                    </a:p>
                  </a:txBody>
                  <a:tcPr marL="164592" marR="109728" marT="36576" marB="36576" anchor="ctr">
                    <a:solidFill>
                      <a:srgbClr val="EF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1A2B45"/>
                          </a:solidFill>
                          <a:latin typeface="Calibri"/>
                        </a:rPr>
                        <a:t>Treatment log</a:t>
                      </a:r>
                    </a:p>
                  </a:txBody>
                  <a:tcPr marL="164592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>
                          <a:solidFill>
                            <a:srgbClr val="4A6080"/>
                          </a:solidFill>
                          <a:latin typeface="Calibri"/>
                        </a:rPr>
                        <a:t>None — not updatable in the field</a:t>
                      </a:r>
                    </a:p>
                  </a:txBody>
                  <a:tcPr marL="164592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1B8FC4"/>
                          </a:solidFill>
                          <a:latin typeface="Calibri"/>
                        </a:rPr>
                        <a:t>Responders write back; chain-of-custody</a:t>
                      </a:r>
                    </a:p>
                  </a:txBody>
                  <a:tcPr marL="164592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1A2B45"/>
                          </a:solidFill>
                          <a:latin typeface="Calibri"/>
                        </a:rPr>
                        <a:t>Drug safety</a:t>
                      </a:r>
                    </a:p>
                  </a:txBody>
                  <a:tcPr marL="164592" marR="109728" marT="36576" marB="36576" anchor="ctr"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>
                          <a:solidFill>
                            <a:srgbClr val="4A6080"/>
                          </a:solidFill>
                          <a:latin typeface="Calibri"/>
                        </a:rPr>
                        <a:t>Manual guesswork under pressure</a:t>
                      </a:r>
                    </a:p>
                  </a:txBody>
                  <a:tcPr marL="164592" marR="109728" marT="36576" marB="36576" anchor="ctr"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1B8FC4"/>
                          </a:solidFill>
                          <a:latin typeface="Calibri"/>
                        </a:rPr>
                        <a:t>On-device conflict check with override</a:t>
                      </a:r>
                    </a:p>
                  </a:txBody>
                  <a:tcPr marL="164592" marR="109728" marT="36576" marB="36576" anchor="ctr">
                    <a:solidFill>
                      <a:srgbClr val="EF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1A2B45"/>
                          </a:solidFill>
                          <a:latin typeface="Calibri"/>
                        </a:rPr>
                        <a:t>Cost &amp; access</a:t>
                      </a:r>
                    </a:p>
                  </a:txBody>
                  <a:tcPr marL="164592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>
                          <a:solidFill>
                            <a:srgbClr val="4A6080"/>
                          </a:solidFill>
                          <a:latin typeface="Calibri"/>
                        </a:rPr>
                        <a:t>Subscriptions; no field hardware</a:t>
                      </a:r>
                    </a:p>
                  </a:txBody>
                  <a:tcPr marL="164592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1B8FC4"/>
                          </a:solidFill>
                          <a:latin typeface="Calibri"/>
                        </a:rPr>
                        <a:t>Cent-cost NTAG215 + freemium app</a:t>
                      </a:r>
                    </a:p>
                  </a:txBody>
                  <a:tcPr marL="164592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2" name="Google Shape;442;p8"/>
          <p:cNvGrpSpPr/>
          <p:nvPr/>
        </p:nvGrpSpPr>
        <p:grpSpPr>
          <a:xfrm>
            <a:off x="640080" y="9609201"/>
            <a:ext cx="4572000" cy="485775"/>
            <a:chOff x="0" y="-38100"/>
            <a:chExt cx="6096000" cy="647700"/>
          </a:xfrm>
        </p:grpSpPr>
        <p:sp>
          <p:nvSpPr>
            <p:cNvPr id="443" name="Google Shape;443;p8"/>
            <p:cNvSpPr/>
            <p:nvPr/>
          </p:nvSpPr>
          <p:spPr>
            <a:xfrm>
              <a:off x="0" y="0"/>
              <a:ext cx="6096000" cy="609600"/>
            </a:xfrm>
            <a:custGeom>
              <a:avLst/>
              <a:gdLst/>
              <a:ahLst/>
              <a:cxnLst/>
              <a:rect l="l" t="t" r="r" b="b"/>
              <a:pathLst>
                <a:path w="6096000" h="609600" extrusionOk="0">
                  <a:moveTo>
                    <a:pt x="0" y="0"/>
                  </a:moveTo>
                  <a:lnTo>
                    <a:pt x="6096000" y="0"/>
                  </a:lnTo>
                  <a:lnTo>
                    <a:pt x="609600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144856" b="-144856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Google Shape;444;p8"/>
            <p:cNvSpPr txBox="1"/>
            <p:nvPr/>
          </p:nvSpPr>
          <p:spPr>
            <a:xfrm>
              <a:off x="0" y="-38100"/>
              <a:ext cx="60960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u="none" strike="noStrike" cap="non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© CODEAMBLE 2026</a:t>
              </a:r>
              <a:endParaRPr/>
            </a:p>
          </p:txBody>
        </p:sp>
      </p:grpSp>
      <p:grpSp>
        <p:nvGrpSpPr>
          <p:cNvPr id="445" name="Google Shape;445;p8"/>
          <p:cNvGrpSpPr/>
          <p:nvPr/>
        </p:nvGrpSpPr>
        <p:grpSpPr>
          <a:xfrm>
            <a:off x="6400800" y="9609201"/>
            <a:ext cx="5852160" cy="485775"/>
            <a:chOff x="0" y="-38100"/>
            <a:chExt cx="7802880" cy="647700"/>
          </a:xfrm>
        </p:grpSpPr>
        <p:sp>
          <p:nvSpPr>
            <p:cNvPr id="446" name="Google Shape;446;p8"/>
            <p:cNvSpPr/>
            <p:nvPr/>
          </p:nvSpPr>
          <p:spPr>
            <a:xfrm>
              <a:off x="0" y="0"/>
              <a:ext cx="7802880" cy="609600"/>
            </a:xfrm>
            <a:custGeom>
              <a:avLst/>
              <a:gdLst/>
              <a:ahLst/>
              <a:cxnLst/>
              <a:rect l="l" t="t" r="r" b="b"/>
              <a:pathLst>
                <a:path w="7802880" h="609600" extrusionOk="0">
                  <a:moveTo>
                    <a:pt x="0" y="0"/>
                  </a:moveTo>
                  <a:lnTo>
                    <a:pt x="7802880" y="0"/>
                  </a:lnTo>
                  <a:lnTo>
                    <a:pt x="780288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199401" b="-199401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Google Shape;447;p8"/>
            <p:cNvSpPr txBox="1"/>
            <p:nvPr/>
          </p:nvSpPr>
          <p:spPr>
            <a:xfrm>
              <a:off x="0" y="-38100"/>
              <a:ext cx="7802880" cy="64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u="none" strike="noStrike" cap="non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ZEN Club – </a:t>
              </a:r>
              <a:r>
                <a:rPr lang="en-US" sz="1700" b="1" i="0" u="none" strike="noStrike" cap="non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Zone of Engineering Innovators</a:t>
              </a:r>
              <a:endParaRPr/>
            </a:p>
          </p:txBody>
        </p:sp>
      </p:grpSp>
      <p:grpSp>
        <p:nvGrpSpPr>
          <p:cNvPr id="448" name="Google Shape;448;p8"/>
          <p:cNvGrpSpPr/>
          <p:nvPr/>
        </p:nvGrpSpPr>
        <p:grpSpPr>
          <a:xfrm>
            <a:off x="12984480" y="9609201"/>
            <a:ext cx="5120640" cy="485775"/>
            <a:chOff x="0" y="-38100"/>
            <a:chExt cx="6827520" cy="647700"/>
          </a:xfrm>
        </p:grpSpPr>
        <p:sp>
          <p:nvSpPr>
            <p:cNvPr id="449" name="Google Shape;449;p8"/>
            <p:cNvSpPr/>
            <p:nvPr/>
          </p:nvSpPr>
          <p:spPr>
            <a:xfrm>
              <a:off x="0" y="0"/>
              <a:ext cx="6827520" cy="609600"/>
            </a:xfrm>
            <a:custGeom>
              <a:avLst/>
              <a:gdLst/>
              <a:ahLst/>
              <a:cxnLst/>
              <a:rect l="l" t="t" r="r" b="b"/>
              <a:pathLst>
                <a:path w="6827520" h="609600" extrusionOk="0">
                  <a:moveTo>
                    <a:pt x="0" y="0"/>
                  </a:moveTo>
                  <a:lnTo>
                    <a:pt x="6827520" y="0"/>
                  </a:lnTo>
                  <a:lnTo>
                    <a:pt x="682752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168226" b="-168226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Google Shape;450;p8"/>
            <p:cNvSpPr txBox="1"/>
            <p:nvPr/>
          </p:nvSpPr>
          <p:spPr>
            <a:xfrm>
              <a:off x="0" y="-38100"/>
              <a:ext cx="6827520" cy="64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u="none" strike="noStrike" cap="none">
                  <a:solidFill>
                    <a:srgbClr val="8A9AB0"/>
                  </a:solidFill>
                  <a:latin typeface="Calibri"/>
                  <a:ea typeface="Calibri"/>
                  <a:cs typeface="Calibri"/>
                  <a:sym typeface="Calibri"/>
                </a:rPr>
                <a:t>contact@zoneofengineeringinnovators.com</a:t>
              </a:r>
              <a:endParaRPr/>
            </a:p>
          </p:txBody>
        </p:sp>
      </p:grpSp>
      <p:grpSp>
        <p:nvGrpSpPr>
          <p:cNvPr id="451" name="Google Shape;451;p8"/>
          <p:cNvGrpSpPr/>
          <p:nvPr/>
        </p:nvGrpSpPr>
        <p:grpSpPr>
          <a:xfrm>
            <a:off x="535943" y="-150019"/>
            <a:ext cx="2011680" cy="2157487"/>
            <a:chOff x="0" y="-200025"/>
            <a:chExt cx="2682240" cy="2876649"/>
          </a:xfrm>
        </p:grpSpPr>
        <p:sp>
          <p:nvSpPr>
            <p:cNvPr id="452" name="Google Shape;452;p8"/>
            <p:cNvSpPr/>
            <p:nvPr/>
          </p:nvSpPr>
          <p:spPr>
            <a:xfrm>
              <a:off x="0" y="0"/>
              <a:ext cx="2682240" cy="2676624"/>
            </a:xfrm>
            <a:custGeom>
              <a:avLst/>
              <a:gdLst/>
              <a:ahLst/>
              <a:cxnLst/>
              <a:rect l="l" t="t" r="r" b="b"/>
              <a:pathLst>
                <a:path w="2682240" h="2676624" extrusionOk="0">
                  <a:moveTo>
                    <a:pt x="0" y="0"/>
                  </a:moveTo>
                  <a:lnTo>
                    <a:pt x="2682240" y="0"/>
                  </a:lnTo>
                  <a:lnTo>
                    <a:pt x="2682240" y="2676624"/>
                  </a:lnTo>
                  <a:lnTo>
                    <a:pt x="0" y="2676624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l="-37480" r="-37480" b="31675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Google Shape;453;p8"/>
            <p:cNvSpPr txBox="1"/>
            <p:nvPr/>
          </p:nvSpPr>
          <p:spPr>
            <a:xfrm>
              <a:off x="0" y="-200025"/>
              <a:ext cx="2682240" cy="28766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99" b="1" i="0" u="none" strike="noStrike" cap="none">
                  <a:solidFill>
                    <a:srgbClr val="D0DFF0"/>
                  </a:solidFill>
                  <a:latin typeface="Calibri"/>
                  <a:ea typeface="Calibri"/>
                  <a:cs typeface="Calibri"/>
                  <a:sym typeface="Calibri"/>
                </a:rPr>
                <a:t>08</a:t>
              </a:r>
              <a:endParaRPr/>
            </a:p>
          </p:txBody>
        </p:sp>
      </p:grpSp>
      <p:grpSp>
        <p:nvGrpSpPr>
          <p:cNvPr id="454" name="Google Shape;454;p8"/>
          <p:cNvGrpSpPr/>
          <p:nvPr/>
        </p:nvGrpSpPr>
        <p:grpSpPr>
          <a:xfrm>
            <a:off x="2377440" y="419195"/>
            <a:ext cx="13716000" cy="1139798"/>
            <a:chOff x="0" y="-123825"/>
            <a:chExt cx="18288000" cy="1519731"/>
          </a:xfrm>
        </p:grpSpPr>
        <p:sp>
          <p:nvSpPr>
            <p:cNvPr id="455" name="Google Shape;455;p8"/>
            <p:cNvSpPr/>
            <p:nvPr/>
          </p:nvSpPr>
          <p:spPr>
            <a:xfrm>
              <a:off x="0" y="0"/>
              <a:ext cx="18288000" cy="1395906"/>
            </a:xfrm>
            <a:custGeom>
              <a:avLst/>
              <a:gdLst/>
              <a:ahLst/>
              <a:cxnLst/>
              <a:rect l="l" t="t" r="r" b="b"/>
              <a:pathLst>
                <a:path w="18288000" h="1395906" extrusionOk="0">
                  <a:moveTo>
                    <a:pt x="0" y="0"/>
                  </a:moveTo>
                  <a:lnTo>
                    <a:pt x="18288000" y="0"/>
                  </a:lnTo>
                  <a:lnTo>
                    <a:pt x="18288000" y="1395906"/>
                  </a:lnTo>
                  <a:lnTo>
                    <a:pt x="0" y="1395906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211600" b="-198943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Google Shape;456;p8"/>
            <p:cNvSpPr txBox="1"/>
            <p:nvPr/>
          </p:nvSpPr>
          <p:spPr>
            <a:xfrm>
              <a:off x="0" y="-123825"/>
              <a:ext cx="18288000" cy="15197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99" b="1" i="0" u="none" strike="noStrike" cap="non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Product Walkthrough</a:t>
              </a:r>
              <a:endParaRPr/>
            </a:p>
          </p:txBody>
        </p:sp>
      </p:grpSp>
      <p:grpSp>
        <p:nvGrpSpPr>
          <p:cNvPr id="457" name="Google Shape;457;p8"/>
          <p:cNvGrpSpPr/>
          <p:nvPr/>
        </p:nvGrpSpPr>
        <p:grpSpPr>
          <a:xfrm>
            <a:off x="2377440" y="1273874"/>
            <a:ext cx="12801600" cy="554926"/>
            <a:chOff x="0" y="-57150"/>
            <a:chExt cx="17068800" cy="739902"/>
          </a:xfrm>
        </p:grpSpPr>
        <p:sp>
          <p:nvSpPr>
            <p:cNvPr id="458" name="Google Shape;458;p8"/>
            <p:cNvSpPr/>
            <p:nvPr/>
          </p:nvSpPr>
          <p:spPr>
            <a:xfrm>
              <a:off x="0" y="0"/>
              <a:ext cx="17068800" cy="682752"/>
            </a:xfrm>
            <a:custGeom>
              <a:avLst/>
              <a:gdLst/>
              <a:ahLst/>
              <a:cxnLst/>
              <a:rect l="l" t="t" r="r" b="b"/>
              <a:pathLst>
                <a:path w="17068800" h="682752" extrusionOk="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825044" b="-825044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Google Shape;459;p8"/>
            <p:cNvSpPr txBox="1"/>
            <p:nvPr/>
          </p:nvSpPr>
          <p:spPr>
            <a:xfrm>
              <a:off x="0" y="-57150"/>
              <a:ext cx="17068800" cy="7399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 b="0" i="0" u="none" strike="noStrike" cap="none">
                  <a:solidFill>
                    <a:srgbClr val="1B8FC4"/>
                  </a:solidFill>
                  <a:latin typeface="Calibri"/>
                  <a:ea typeface="Calibri"/>
                  <a:cs typeface="Calibri"/>
                  <a:sym typeface="Calibri"/>
                </a:rPr>
                <a:t>Patient-Tap, running end-to-end and fully offline</a:t>
              </a:r>
              <a:endParaRPr/>
            </a:p>
          </p:txBody>
        </p:sp>
      </p:grpSp>
      <p:sp>
        <p:nvSpPr>
          <p:cNvPr id="460" name="Google Shape;460;p8"/>
          <p:cNvSpPr/>
          <p:nvPr/>
        </p:nvSpPr>
        <p:spPr>
          <a:xfrm>
            <a:off x="224494" y="1852674"/>
            <a:ext cx="17386325" cy="7340631"/>
          </a:xfrm>
          <a:custGeom>
            <a:avLst/>
            <a:gdLst/>
            <a:ahLst/>
            <a:cxnLst/>
            <a:rect l="l" t="t" r="r" b="b"/>
            <a:pathLst>
              <a:path w="23181766" h="9787509" extrusionOk="0">
                <a:moveTo>
                  <a:pt x="0" y="293624"/>
                </a:moveTo>
                <a:cubicBezTo>
                  <a:pt x="0" y="131445"/>
                  <a:pt x="283115" y="0"/>
                  <a:pt x="632428" y="0"/>
                </a:cubicBezTo>
                <a:lnTo>
                  <a:pt x="22549383" y="0"/>
                </a:lnTo>
                <a:cubicBezTo>
                  <a:pt x="22898695" y="0"/>
                  <a:pt x="23181766" y="131445"/>
                  <a:pt x="23181766" y="293624"/>
                </a:cubicBezTo>
                <a:lnTo>
                  <a:pt x="23181766" y="9493885"/>
                </a:lnTo>
                <a:cubicBezTo>
                  <a:pt x="23181766" y="9656064"/>
                  <a:pt x="22898695" y="9787509"/>
                  <a:pt x="22549383" y="9787509"/>
                </a:cubicBezTo>
                <a:lnTo>
                  <a:pt x="632428" y="9787509"/>
                </a:lnTo>
                <a:cubicBezTo>
                  <a:pt x="283115" y="9787509"/>
                  <a:pt x="0" y="9656064"/>
                  <a:pt x="0" y="9493885"/>
                </a:cubicBezTo>
                <a:close/>
              </a:path>
            </a:pathLst>
          </a:custGeom>
          <a:solidFill>
            <a:srgbClr val="FFFFFF"/>
          </a:solidFill>
          <a:ln w="25400" cap="sq" cmpd="sng">
            <a:solidFill>
              <a:srgbClr val="E2EAF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1" name="Google Shape;461;p8"/>
          <p:cNvGrpSpPr/>
          <p:nvPr/>
        </p:nvGrpSpPr>
        <p:grpSpPr>
          <a:xfrm>
            <a:off x="914400" y="2195417"/>
            <a:ext cx="16413480" cy="730663"/>
            <a:chOff x="0" y="-47625"/>
            <a:chExt cx="21884640" cy="974217"/>
          </a:xfrm>
        </p:grpSpPr>
        <p:sp>
          <p:nvSpPr>
            <p:cNvPr id="462" name="Google Shape;462;p8"/>
            <p:cNvSpPr/>
            <p:nvPr/>
          </p:nvSpPr>
          <p:spPr>
            <a:xfrm>
              <a:off x="0" y="0"/>
              <a:ext cx="21884639" cy="926592"/>
            </a:xfrm>
            <a:custGeom>
              <a:avLst/>
              <a:gdLst/>
              <a:ahLst/>
              <a:cxnLst/>
              <a:rect l="l" t="t" r="r" b="b"/>
              <a:pathLst>
                <a:path w="21884639" h="926592" extrusionOk="0">
                  <a:moveTo>
                    <a:pt x="0" y="0"/>
                  </a:moveTo>
                  <a:lnTo>
                    <a:pt x="21884639" y="0"/>
                  </a:lnTo>
                  <a:lnTo>
                    <a:pt x="21884639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155103" r="55431" b="-155103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Google Shape;463;p8"/>
            <p:cNvSpPr txBox="1"/>
            <p:nvPr/>
          </p:nvSpPr>
          <p:spPr>
            <a:xfrm>
              <a:off x="0" y="-47625"/>
              <a:ext cx="21884640" cy="9742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📱 The app, end-to-end</a:t>
              </a:r>
              <a:endParaRPr/>
            </a:p>
          </p:txBody>
        </p:sp>
      </p:grpSp>
      <p:grpSp>
        <p:nvGrpSpPr>
          <p:cNvPr id="464" name="Google Shape;464;p8"/>
          <p:cNvGrpSpPr/>
          <p:nvPr/>
        </p:nvGrpSpPr>
        <p:grpSpPr>
          <a:xfrm>
            <a:off x="914400" y="2651760"/>
            <a:ext cx="15819120" cy="1176718"/>
            <a:chOff x="0" y="-57150"/>
            <a:chExt cx="21092160" cy="1568958"/>
          </a:xfrm>
        </p:grpSpPr>
        <p:sp>
          <p:nvSpPr>
            <p:cNvPr id="465" name="Google Shape;465;p8"/>
            <p:cNvSpPr/>
            <p:nvPr/>
          </p:nvSpPr>
          <p:spPr>
            <a:xfrm>
              <a:off x="0" y="0"/>
              <a:ext cx="21092159" cy="1511808"/>
            </a:xfrm>
            <a:custGeom>
              <a:avLst/>
              <a:gdLst/>
              <a:ahLst/>
              <a:cxnLst/>
              <a:rect l="l" t="t" r="r" b="b"/>
              <a:pathLst>
                <a:path w="21092159" h="1511808" extrusionOk="0">
                  <a:moveTo>
                    <a:pt x="0" y="0"/>
                  </a:moveTo>
                  <a:lnTo>
                    <a:pt x="21092159" y="0"/>
                  </a:lnTo>
                  <a:lnTo>
                    <a:pt x="2109215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B4B4B4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Google Shape;466;p8"/>
            <p:cNvSpPr txBox="1"/>
            <p:nvPr/>
          </p:nvSpPr>
          <p:spPr>
            <a:xfrm>
              <a:off x="0" y="-57150"/>
              <a:ext cx="21092160" cy="1568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7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2400">
                  <a:solidFill>
                    <a:srgbClr val="4A6080"/>
                  </a:solidFill>
                  <a:latin typeface="Calibri"/>
                </a:rPr>
                <a:t>Onboarding  →  write profile to tag  →  responder scan  →  offline chain-of-custody log.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8" name="Google Shape;468;p8"/>
          <p:cNvGrpSpPr/>
          <p:nvPr/>
        </p:nvGrpSpPr>
        <p:grpSpPr>
          <a:xfrm>
            <a:off x="15961995" y="164540"/>
            <a:ext cx="1543050" cy="1497562"/>
            <a:chOff x="0" y="-47625"/>
            <a:chExt cx="406400" cy="394420"/>
          </a:xfrm>
        </p:grpSpPr>
        <p:sp>
          <p:nvSpPr>
            <p:cNvPr id="469" name="Google Shape;469;p8"/>
            <p:cNvSpPr/>
            <p:nvPr/>
          </p:nvSpPr>
          <p:spPr>
            <a:xfrm>
              <a:off x="0" y="0"/>
              <a:ext cx="406400" cy="346795"/>
            </a:xfrm>
            <a:custGeom>
              <a:avLst/>
              <a:gdLst/>
              <a:ahLst/>
              <a:cxnLst/>
              <a:rect l="l" t="t" r="r" b="b"/>
              <a:pathLst>
                <a:path w="406400" h="346795" extrusionOk="0">
                  <a:moveTo>
                    <a:pt x="85294" y="0"/>
                  </a:moveTo>
                  <a:lnTo>
                    <a:pt x="321106" y="0"/>
                  </a:lnTo>
                  <a:cubicBezTo>
                    <a:pt x="343727" y="0"/>
                    <a:pt x="365422" y="8986"/>
                    <a:pt x="381418" y="24982"/>
                  </a:cubicBezTo>
                  <a:cubicBezTo>
                    <a:pt x="397414" y="40978"/>
                    <a:pt x="406400" y="62673"/>
                    <a:pt x="406400" y="85294"/>
                  </a:cubicBezTo>
                  <a:lnTo>
                    <a:pt x="406400" y="261501"/>
                  </a:lnTo>
                  <a:cubicBezTo>
                    <a:pt x="406400" y="284122"/>
                    <a:pt x="397414" y="305817"/>
                    <a:pt x="381418" y="321813"/>
                  </a:cubicBezTo>
                  <a:cubicBezTo>
                    <a:pt x="365422" y="337808"/>
                    <a:pt x="343727" y="346795"/>
                    <a:pt x="321106" y="346795"/>
                  </a:cubicBezTo>
                  <a:lnTo>
                    <a:pt x="85294" y="346795"/>
                  </a:lnTo>
                  <a:cubicBezTo>
                    <a:pt x="62673" y="346795"/>
                    <a:pt x="40978" y="337808"/>
                    <a:pt x="24982" y="321813"/>
                  </a:cubicBezTo>
                  <a:cubicBezTo>
                    <a:pt x="8986" y="305817"/>
                    <a:pt x="0" y="284122"/>
                    <a:pt x="0" y="261501"/>
                  </a:cubicBezTo>
                  <a:lnTo>
                    <a:pt x="0" y="85294"/>
                  </a:lnTo>
                  <a:cubicBezTo>
                    <a:pt x="0" y="62673"/>
                    <a:pt x="8986" y="40978"/>
                    <a:pt x="24982" y="24982"/>
                  </a:cubicBezTo>
                  <a:cubicBezTo>
                    <a:pt x="40978" y="8986"/>
                    <a:pt x="62673" y="0"/>
                    <a:pt x="85294" y="0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8"/>
            <p:cNvSpPr txBox="1"/>
            <p:nvPr/>
          </p:nvSpPr>
          <p:spPr>
            <a:xfrm>
              <a:off x="0" y="-47625"/>
              <a:ext cx="406400" cy="394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1" name="Google Shape;471;p8"/>
          <p:cNvSpPr/>
          <p:nvPr/>
        </p:nvSpPr>
        <p:spPr>
          <a:xfrm>
            <a:off x="15798500" y="238800"/>
            <a:ext cx="2143125" cy="1475499"/>
          </a:xfrm>
          <a:custGeom>
            <a:avLst/>
            <a:gdLst/>
            <a:ahLst/>
            <a:cxnLst/>
            <a:rect l="l" t="t" r="r" b="b"/>
            <a:pathLst>
              <a:path w="2143125" h="1475499" extrusionOk="0">
                <a:moveTo>
                  <a:pt x="0" y="0"/>
                </a:moveTo>
                <a:lnTo>
                  <a:pt x="2143125" y="0"/>
                </a:lnTo>
                <a:lnTo>
                  <a:pt x="2143125" y="1475499"/>
                </a:lnTo>
                <a:lnTo>
                  <a:pt x="0" y="14754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700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472" name="Picture 471" descr="image-17834103590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3200400"/>
            <a:ext cx="2468880" cy="5259788"/>
          </a:xfrm>
          <a:prstGeom prst="rect">
            <a:avLst/>
          </a:prstGeom>
          <a:ln w="15875">
            <a:solidFill>
              <a:srgbClr val="C8E0F2"/>
            </a:solidFill>
          </a:ln>
        </p:spPr>
      </p:pic>
      <p:sp>
        <p:nvSpPr>
          <p:cNvPr id="473" name="TextBox 472"/>
          <p:cNvSpPr txBox="1"/>
          <p:nvPr/>
        </p:nvSpPr>
        <p:spPr>
          <a:xfrm>
            <a:off x="2971800" y="8533339"/>
            <a:ext cx="27432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700" b="1">
                <a:solidFill>
                  <a:srgbClr val="1A2B45"/>
                </a:solidFill>
                <a:latin typeface="Calibri"/>
              </a:rPr>
              <a:t>Onboarding</a:t>
            </a:r>
          </a:p>
        </p:txBody>
      </p:sp>
      <p:pic>
        <p:nvPicPr>
          <p:cNvPr id="474" name="Picture 473" descr="image-178341038456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200400"/>
            <a:ext cx="2468880" cy="5259788"/>
          </a:xfrm>
          <a:prstGeom prst="rect">
            <a:avLst/>
          </a:prstGeom>
          <a:ln w="15875">
            <a:solidFill>
              <a:srgbClr val="C8E0F2"/>
            </a:solidFill>
          </a:ln>
        </p:spPr>
      </p:pic>
      <p:sp>
        <p:nvSpPr>
          <p:cNvPr id="475" name="TextBox 474"/>
          <p:cNvSpPr txBox="1"/>
          <p:nvPr/>
        </p:nvSpPr>
        <p:spPr>
          <a:xfrm>
            <a:off x="6172200" y="8533339"/>
            <a:ext cx="27432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700" b="1">
                <a:solidFill>
                  <a:srgbClr val="1A2B45"/>
                </a:solidFill>
                <a:latin typeface="Calibri"/>
              </a:rPr>
              <a:t>Patient dashboard</a:t>
            </a:r>
          </a:p>
        </p:txBody>
      </p:sp>
      <p:pic>
        <p:nvPicPr>
          <p:cNvPr id="476" name="Picture 475" descr="image-178341039230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0" y="3200400"/>
            <a:ext cx="2468880" cy="5259788"/>
          </a:xfrm>
          <a:prstGeom prst="rect">
            <a:avLst/>
          </a:prstGeom>
          <a:ln w="15875">
            <a:solidFill>
              <a:srgbClr val="C8E0F2"/>
            </a:solidFill>
          </a:ln>
        </p:spPr>
      </p:pic>
      <p:sp>
        <p:nvSpPr>
          <p:cNvPr id="477" name="TextBox 476"/>
          <p:cNvSpPr txBox="1"/>
          <p:nvPr/>
        </p:nvSpPr>
        <p:spPr>
          <a:xfrm>
            <a:off x="9372600" y="8533339"/>
            <a:ext cx="27432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700" b="1">
                <a:solidFill>
                  <a:srgbClr val="1A2B45"/>
                </a:solidFill>
                <a:latin typeface="Calibri"/>
              </a:rPr>
              <a:t>Responder view</a:t>
            </a:r>
          </a:p>
        </p:txBody>
      </p:sp>
      <p:pic>
        <p:nvPicPr>
          <p:cNvPr id="478" name="Picture 477" descr="image-178341040093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10160" y="3200400"/>
            <a:ext cx="2468880" cy="5259788"/>
          </a:xfrm>
          <a:prstGeom prst="rect">
            <a:avLst/>
          </a:prstGeom>
          <a:ln w="15875">
            <a:solidFill>
              <a:srgbClr val="C8E0F2"/>
            </a:solidFill>
          </a:ln>
        </p:spPr>
      </p:pic>
      <p:sp>
        <p:nvSpPr>
          <p:cNvPr id="479" name="TextBox 478"/>
          <p:cNvSpPr txBox="1"/>
          <p:nvPr/>
        </p:nvSpPr>
        <p:spPr>
          <a:xfrm>
            <a:off x="12573000" y="8533339"/>
            <a:ext cx="2743200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700" b="1">
                <a:solidFill>
                  <a:srgbClr val="1A2B45"/>
                </a:solidFill>
                <a:latin typeface="Calibri"/>
              </a:rPr>
              <a:t>Treatment log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B1E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1028700" y="2204280"/>
            <a:ext cx="16459200" cy="620935"/>
            <a:chOff x="0" y="-47625"/>
            <a:chExt cx="21945600" cy="82791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21945600" cy="780288"/>
            </a:xfrm>
            <a:custGeom>
              <a:avLst/>
              <a:gdLst/>
              <a:ahLst/>
              <a:cxnLst/>
              <a:rect l="l" t="t" r="r" b="b"/>
              <a:pathLst>
                <a:path w="21945600" h="780288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l="-3091" t="-1300955" b="-1498432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21945600" cy="827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00" b="0" i="0" u="none" strike="noStrike" cap="none">
                  <a:solidFill>
                    <a:srgbClr val="8888BB"/>
                  </a:solidFill>
                  <a:latin typeface="Calibri"/>
                  <a:ea typeface="Calibri"/>
                  <a:cs typeface="Calibri"/>
                  <a:sym typeface="Calibri"/>
                </a:rPr>
                <a:t>PATIENT-TAP</a:t>
              </a:r>
              <a:endParaRPr sz="2300"/>
            </a:p>
          </p:txBody>
        </p:sp>
      </p:grpSp>
      <p:grpSp>
        <p:nvGrpSpPr>
          <p:cNvPr id="87" name="Google Shape;87;p1"/>
          <p:cNvGrpSpPr/>
          <p:nvPr/>
        </p:nvGrpSpPr>
        <p:grpSpPr>
          <a:xfrm>
            <a:off x="574048" y="2826068"/>
            <a:ext cx="17531025" cy="2317500"/>
            <a:chOff x="0" y="-285750"/>
            <a:chExt cx="23374700" cy="3090000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22920961" cy="2804160"/>
            </a:xfrm>
            <a:custGeom>
              <a:avLst/>
              <a:gdLst/>
              <a:ahLst/>
              <a:cxnLst/>
              <a:rect l="l" t="t" r="r" b="b"/>
              <a:pathLst>
                <a:path w="22920961" h="2804160" extrusionOk="0">
                  <a:moveTo>
                    <a:pt x="0" y="0"/>
                  </a:moveTo>
                  <a:lnTo>
                    <a:pt x="22920961" y="0"/>
                  </a:lnTo>
                  <a:lnTo>
                    <a:pt x="22920961" y="2804160"/>
                  </a:lnTo>
                  <a:lnTo>
                    <a:pt x="0" y="28041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09266" b="-109266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Google Shape;89;p1"/>
            <p:cNvSpPr txBox="1"/>
            <p:nvPr/>
          </p:nvSpPr>
          <p:spPr>
            <a:xfrm>
              <a:off x="453800" y="-285750"/>
              <a:ext cx="22920900" cy="309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400" b="1">
                  <a:solidFill>
                    <a:srgbClr val="2AADEE"/>
                  </a:solidFill>
                  <a:latin typeface="Calibri"/>
                  <a:ea typeface="Calibri"/>
                  <a:cs typeface="Calibri"/>
                  <a:sym typeface="Calibri"/>
                </a:rPr>
                <a:t>THANK </a:t>
              </a:r>
              <a:r>
                <a:rPr lang="en-US" sz="14400" b="1" i="0" strike="noStrike" cap="none">
                  <a:solidFill>
                    <a:srgbClr val="2AADEE"/>
                  </a:solidFill>
                  <a:latin typeface="Calibri"/>
                  <a:ea typeface="Calibri"/>
                  <a:cs typeface="Calibri"/>
                  <a:sym typeface="Calibri"/>
                </a:rPr>
                <a:t>YOU</a:t>
              </a:r>
              <a:endParaRPr/>
            </a:p>
          </p:txBody>
        </p:sp>
      </p:grpSp>
      <p:sp>
        <p:nvSpPr>
          <p:cNvPr id="90" name="Google Shape;90;p1"/>
          <p:cNvSpPr/>
          <p:nvPr/>
        </p:nvSpPr>
        <p:spPr>
          <a:xfrm>
            <a:off x="4036066" y="6163056"/>
            <a:ext cx="10266616" cy="1945576"/>
          </a:xfrm>
          <a:custGeom>
            <a:avLst/>
            <a:gdLst/>
            <a:ahLst/>
            <a:cxnLst/>
            <a:rect l="l" t="t" r="r" b="b"/>
            <a:pathLst>
              <a:path w="13688822" h="2594102" extrusionOk="0">
                <a:moveTo>
                  <a:pt x="0" y="345821"/>
                </a:moveTo>
                <a:cubicBezTo>
                  <a:pt x="0" y="154813"/>
                  <a:pt x="154813" y="0"/>
                  <a:pt x="345821" y="0"/>
                </a:cubicBezTo>
                <a:lnTo>
                  <a:pt x="13343001" y="0"/>
                </a:lnTo>
                <a:cubicBezTo>
                  <a:pt x="13534010" y="0"/>
                  <a:pt x="13688822" y="154813"/>
                  <a:pt x="13688822" y="345821"/>
                </a:cubicBezTo>
                <a:lnTo>
                  <a:pt x="13688822" y="2248281"/>
                </a:lnTo>
                <a:cubicBezTo>
                  <a:pt x="13688822" y="2439289"/>
                  <a:pt x="13534010" y="2594102"/>
                  <a:pt x="13343001" y="2594102"/>
                </a:cubicBezTo>
                <a:lnTo>
                  <a:pt x="345821" y="2594102"/>
                </a:lnTo>
                <a:cubicBezTo>
                  <a:pt x="154813" y="2594229"/>
                  <a:pt x="0" y="2439289"/>
                  <a:pt x="0" y="2248281"/>
                </a:cubicBezTo>
                <a:close/>
              </a:path>
            </a:pathLst>
          </a:custGeom>
          <a:solidFill>
            <a:srgbClr val="1A1638"/>
          </a:solidFill>
          <a:ln w="25400" cap="sq" cmpd="sng">
            <a:solidFill>
              <a:srgbClr val="3A306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" name="Google Shape;91;p1"/>
          <p:cNvGrpSpPr/>
          <p:nvPr/>
        </p:nvGrpSpPr>
        <p:grpSpPr>
          <a:xfrm>
            <a:off x="4023360" y="6264916"/>
            <a:ext cx="10241280" cy="880110"/>
            <a:chOff x="0" y="-76200"/>
            <a:chExt cx="13655040" cy="1173480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13655039" cy="1097280"/>
            </a:xfrm>
            <a:custGeom>
              <a:avLst/>
              <a:gdLst/>
              <a:ahLst/>
              <a:cxnLst/>
              <a:rect l="l" t="t" r="r" b="b"/>
              <a:pathLst>
                <a:path w="13655039" h="1097280" extrusionOk="0">
                  <a:moveTo>
                    <a:pt x="0" y="0"/>
                  </a:moveTo>
                  <a:lnTo>
                    <a:pt x="13655039" y="0"/>
                  </a:lnTo>
                  <a:lnTo>
                    <a:pt x="13655039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92483" b="-192483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76200"/>
              <a:ext cx="13655040" cy="1173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Questions &amp; Feedback Welcome</a:t>
              </a:r>
              <a:endParaRPr/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914400" y="4984878"/>
            <a:ext cx="16573500" cy="969847"/>
            <a:chOff x="0" y="0"/>
            <a:chExt cx="22098000" cy="1293129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21945600" cy="975360"/>
            </a:xfrm>
            <a:custGeom>
              <a:avLst/>
              <a:gdLst/>
              <a:ahLst/>
              <a:cxnLst/>
              <a:rect l="l" t="t" r="r" b="b"/>
              <a:pathLst>
                <a:path w="21945600" h="975360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2">
                <a:alphaModFix amt="0"/>
              </a:blip>
              <a:stretch>
                <a:fillRect t="-1075112" b="-1075112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152400" y="251229"/>
              <a:ext cx="21945600" cy="104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The record lives on the chip — not the cloud.</a:t>
              </a:r>
              <a:endParaRPr/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4036066" y="7109307"/>
            <a:ext cx="10241280" cy="675799"/>
            <a:chOff x="0" y="-47625"/>
            <a:chExt cx="13655040" cy="901065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13655039" cy="853440"/>
            </a:xfrm>
            <a:custGeom>
              <a:avLst/>
              <a:gdLst/>
              <a:ahLst/>
              <a:cxnLst/>
              <a:rect l="l" t="t" r="r" b="b"/>
              <a:pathLst>
                <a:path w="13655039" h="853440" extrusionOk="0">
                  <a:moveTo>
                    <a:pt x="0" y="0"/>
                  </a:moveTo>
                  <a:lnTo>
                    <a:pt x="13655039" y="0"/>
                  </a:lnTo>
                  <a:lnTo>
                    <a:pt x="13655039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61760" b="-261760"/>
              </a:stretch>
            </a:blip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13655040" cy="9010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0" i="0" u="none" strike="noStrike" cap="none">
                  <a:solidFill>
                    <a:srgbClr val="9999CC"/>
                  </a:solidFill>
                  <a:latin typeface="Calibri"/>
                  <a:ea typeface="Calibri"/>
                  <a:cs typeface="Calibri"/>
                  <a:sym typeface="Calibri"/>
                </a:rPr>
                <a:t>We'd love to hear what you think.</a:t>
              </a:r>
              <a:endParaRPr/>
            </a:p>
          </p:txBody>
        </p:sp>
      </p:grpSp>
      <p:sp>
        <p:nvSpPr>
          <p:cNvPr id="100" name="Google Shape;100;p1"/>
          <p:cNvSpPr/>
          <p:nvPr/>
        </p:nvSpPr>
        <p:spPr>
          <a:xfrm>
            <a:off x="13586878" y="-714379"/>
            <a:ext cx="4701122" cy="3997288"/>
          </a:xfrm>
          <a:custGeom>
            <a:avLst/>
            <a:gdLst/>
            <a:ahLst/>
            <a:cxnLst/>
            <a:rect l="l" t="t" r="r" b="b"/>
            <a:pathLst>
              <a:path w="5750608" h="5124728" extrusionOk="0">
                <a:moveTo>
                  <a:pt x="0" y="0"/>
                </a:moveTo>
                <a:lnTo>
                  <a:pt x="5750608" y="0"/>
                </a:lnTo>
                <a:lnTo>
                  <a:pt x="5750608" y="5124728"/>
                </a:lnTo>
                <a:lnTo>
                  <a:pt x="0" y="51247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2212"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01" name="Google Shape;101;p1"/>
          <p:cNvCxnSpPr/>
          <p:nvPr/>
        </p:nvCxnSpPr>
        <p:spPr>
          <a:xfrm rot="10800000" flipH="1">
            <a:off x="3998925" y="4920025"/>
            <a:ext cx="11340600" cy="597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" name="TextBox 101"/>
          <p:cNvSpPr txBox="1"/>
          <p:nvPr/>
        </p:nvSpPr>
        <p:spPr>
          <a:xfrm>
            <a:off x="4023360" y="845820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C8E0F2"/>
                </a:solidFill>
                <a:latin typeface="Calibri"/>
              </a:rPr>
              <a:t>Team ZEN-T313   ·   Vishwakarma Institute of Technology</a:t>
            </a:r>
          </a:p>
          <a:p>
            <a:pPr algn="ctr"/>
            <a:r>
              <a:rPr sz="1600">
                <a:solidFill>
                  <a:srgbClr val="7FC0EE"/>
                </a:solidFill>
                <a:latin typeface="Calibri"/>
              </a:rPr>
              <a:t>github.com/viralala/Patient-Tap    ·    patient-tap-web.vercel.app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1174</Words>
  <Application>Microsoft Office PowerPoint</Application>
  <PresentationFormat>Custom</PresentationFormat>
  <Paragraphs>160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User</cp:lastModifiedBy>
  <cp:revision>1</cp:revision>
  <dcterms:created xsi:type="dcterms:W3CDTF">2006-08-16T00:00:00Z</dcterms:created>
  <dcterms:modified xsi:type="dcterms:W3CDTF">2026-07-12T15:36:03Z</dcterms:modified>
</cp:coreProperties>
</file>